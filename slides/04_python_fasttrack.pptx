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5143500" cx="9144000"/>
  <p:notesSz cx="6858000" cy="9144000"/>
  <p:embeddedFontLst>
    <p:embeddedFont>
      <p:font typeface="Raleway"/>
      <p:regular r:id="rId34"/>
      <p:bold r:id="rId35"/>
      <p:italic r:id="rId36"/>
      <p:boldItalic r:id="rId37"/>
    </p:embeddedFont>
    <p:embeddedFont>
      <p:font typeface="Lato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ato-italic.fntdata"/><Relationship Id="rId20" Type="http://schemas.openxmlformats.org/officeDocument/2006/relationships/slide" Target="slides/slide15.xml"/><Relationship Id="rId41" Type="http://schemas.openxmlformats.org/officeDocument/2006/relationships/font" Target="fonts/Lato-bold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Raleway-bold.fntdata"/><Relationship Id="rId12" Type="http://schemas.openxmlformats.org/officeDocument/2006/relationships/slide" Target="slides/slide7.xml"/><Relationship Id="rId34" Type="http://schemas.openxmlformats.org/officeDocument/2006/relationships/font" Target="fonts/Raleway-regular.fntdata"/><Relationship Id="rId15" Type="http://schemas.openxmlformats.org/officeDocument/2006/relationships/slide" Target="slides/slide10.xml"/><Relationship Id="rId37" Type="http://schemas.openxmlformats.org/officeDocument/2006/relationships/font" Target="fonts/Raleway-boldItalic.fntdata"/><Relationship Id="rId14" Type="http://schemas.openxmlformats.org/officeDocument/2006/relationships/slide" Target="slides/slide9.xml"/><Relationship Id="rId36" Type="http://schemas.openxmlformats.org/officeDocument/2006/relationships/font" Target="fonts/Raleway-italic.fntdata"/><Relationship Id="rId17" Type="http://schemas.openxmlformats.org/officeDocument/2006/relationships/slide" Target="slides/slide12.xml"/><Relationship Id="rId39" Type="http://schemas.openxmlformats.org/officeDocument/2006/relationships/font" Target="fonts/Lato-bold.fntdata"/><Relationship Id="rId16" Type="http://schemas.openxmlformats.org/officeDocument/2006/relationships/slide" Target="slides/slide11.xml"/><Relationship Id="rId38" Type="http://schemas.openxmlformats.org/officeDocument/2006/relationships/font" Target="fonts/Lato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1a29c97bc0_0_5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11a29c97bc0_0_5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1a29c97bc0_0_5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11a29c97bc0_0_5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1a29c97bc0_0_5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11a29c97bc0_0_5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1a29c97bc0_0_5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1a29c97bc0_0_5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1a29c97bc0_0_5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11a29c97bc0_0_5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1a29c97bc0_0_5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1a29c97bc0_0_5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1a29c97bc0_0_5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1a29c97bc0_0_5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1a29c97bc0_0_5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11a29c97bc0_0_5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1a29c97bc0_0_5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11a29c97bc0_0_5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1a29c97bc0_0_5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11a29c97bc0_0_5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11a29c97bc0_0_5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11a29c97bc0_0_5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1a29c97bc0_0_6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11a29c97bc0_0_6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1a29c97bc0_0_6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11a29c97bc0_0_6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1a29c97bc0_0_6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11a29c97bc0_0_6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1a29c97bc0_0_6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11a29c97bc0_0_6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11a29c97bc0_0_6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11a29c97bc0_0_6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11a29c97bc0_0_6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11a29c97bc0_0_6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11a29c97bc0_0_6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11a29c97bc0_0_6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1a29c97bc0_0_6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11a29c97bc0_0_6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11a29c97bc0_0_6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11a29c97bc0_0_6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11a29c97bc0_0_6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11a29c97bc0_0_6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1a29c97bc0_0_7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11a29c97bc0_0_7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11a29c97bc0_0_7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11a29c97bc0_0_7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11a29c97bc0_0_7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11a29c97bc0_0_7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11a29c97bc0_0_6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11a29c97bc0_0_6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11a29c97bc0_0_6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11a29c97bc0_0_6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11a29c97bc0_0_6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11a29c97bc0_0_6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Python.</a:t>
            </a:r>
            <a:endParaRPr/>
          </a:p>
        </p:txBody>
      </p:sp>
      <p:sp>
        <p:nvSpPr>
          <p:cNvPr id="73" name="Google Shape;73;p13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Aprendiendo a tabular en unas horas.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es?	</a:t>
            </a:r>
            <a:endParaRPr/>
          </a:p>
        </p:txBody>
      </p:sp>
      <p:sp>
        <p:nvSpPr>
          <p:cNvPr id="79" name="Google Shape;79;p1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 un lenguaje de programación: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Interpretado.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Orientado a Objetos.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Propósito general.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No tipado en declaración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Para este curso, usaremos Python 3 y en el ambiente “Google Colaboratory”: https://colab.research.google.com/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Bases</a:t>
            </a:r>
            <a:endParaRPr/>
          </a:p>
        </p:txBody>
      </p:sp>
      <p:pic>
        <p:nvPicPr>
          <p:cNvPr id="85" name="Google Shape;8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3950" y="2005013"/>
            <a:ext cx="3257550" cy="113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Operaciones</a:t>
            </a:r>
            <a:endParaRPr/>
          </a:p>
        </p:txBody>
      </p:sp>
      <p:pic>
        <p:nvPicPr>
          <p:cNvPr id="91" name="Google Shape;9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387" y="927150"/>
            <a:ext cx="2506285" cy="3787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06897" y="1211050"/>
            <a:ext cx="2714625" cy="286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Control de flujo</a:t>
            </a:r>
            <a:endParaRPr/>
          </a:p>
        </p:txBody>
      </p:sp>
      <p:pic>
        <p:nvPicPr>
          <p:cNvPr id="98" name="Google Shape;9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02100"/>
            <a:ext cx="8839199" cy="27393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Control de flujo</a:t>
            </a:r>
            <a:endParaRPr/>
          </a:p>
        </p:txBody>
      </p:sp>
      <p:pic>
        <p:nvPicPr>
          <p:cNvPr id="104" name="Google Shape;10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02100"/>
            <a:ext cx="8839199" cy="27393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Control de flujo</a:t>
            </a:r>
            <a:endParaRPr/>
          </a:p>
        </p:txBody>
      </p:sp>
      <p:pic>
        <p:nvPicPr>
          <p:cNvPr id="110" name="Google Shape;11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03575"/>
            <a:ext cx="8839200" cy="28163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Control de flujo</a:t>
            </a:r>
            <a:endParaRPr/>
          </a:p>
        </p:txBody>
      </p:sp>
      <p:pic>
        <p:nvPicPr>
          <p:cNvPr id="116" name="Google Shape;11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03575"/>
            <a:ext cx="8743950" cy="284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Loops</a:t>
            </a:r>
            <a:endParaRPr/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0625" y="1252538"/>
            <a:ext cx="2600325" cy="263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Loops</a:t>
            </a:r>
            <a:endParaRPr/>
          </a:p>
        </p:txBody>
      </p:sp>
      <p:pic>
        <p:nvPicPr>
          <p:cNvPr id="128" name="Google Shape;12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7213" y="1051175"/>
            <a:ext cx="3152775" cy="377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Listas y tuplas</a:t>
            </a:r>
            <a:endParaRPr/>
          </a:p>
        </p:txBody>
      </p:sp>
      <p:pic>
        <p:nvPicPr>
          <p:cNvPr id="134" name="Google Shape;13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3100" y="1281113"/>
            <a:ext cx="5257800" cy="258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Listas y tuplas</a:t>
            </a:r>
            <a:endParaRPr/>
          </a:p>
        </p:txBody>
      </p:sp>
      <p:pic>
        <p:nvPicPr>
          <p:cNvPr id="140" name="Google Shape;14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0938" y="1843088"/>
            <a:ext cx="4505325" cy="145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Listas y tuplas</a:t>
            </a:r>
            <a:endParaRPr/>
          </a:p>
        </p:txBody>
      </p:sp>
      <p:pic>
        <p:nvPicPr>
          <p:cNvPr id="146" name="Google Shape;14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113" y="1051175"/>
            <a:ext cx="7800975" cy="338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Listas y tuplas</a:t>
            </a:r>
            <a:endParaRPr/>
          </a:p>
        </p:txBody>
      </p:sp>
      <p:pic>
        <p:nvPicPr>
          <p:cNvPr id="152" name="Google Shape;15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4425" y="1276350"/>
            <a:ext cx="6915150" cy="25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7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Listas y tuplas</a:t>
            </a:r>
            <a:endParaRPr/>
          </a:p>
        </p:txBody>
      </p:sp>
      <p:pic>
        <p:nvPicPr>
          <p:cNvPr id="158" name="Google Shape;15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4063" y="1776413"/>
            <a:ext cx="5095875" cy="159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8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Listas y tuplas</a:t>
            </a:r>
            <a:endParaRPr/>
          </a:p>
        </p:txBody>
      </p:sp>
      <p:pic>
        <p:nvPicPr>
          <p:cNvPr id="164" name="Google Shape;16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5063" y="1323975"/>
            <a:ext cx="4333875" cy="249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9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Listas y tuplas</a:t>
            </a:r>
            <a:endParaRPr/>
          </a:p>
        </p:txBody>
      </p:sp>
      <p:pic>
        <p:nvPicPr>
          <p:cNvPr id="170" name="Google Shape;17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000" y="1715050"/>
            <a:ext cx="8839198" cy="1713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0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Funciones</a:t>
            </a:r>
            <a:endParaRPr/>
          </a:p>
        </p:txBody>
      </p:sp>
      <p:pic>
        <p:nvPicPr>
          <p:cNvPr id="176" name="Google Shape;17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53838" y="1547813"/>
            <a:ext cx="3819525" cy="204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1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Funciones</a:t>
            </a:r>
            <a:endParaRPr/>
          </a:p>
        </p:txBody>
      </p:sp>
      <p:pic>
        <p:nvPicPr>
          <p:cNvPr id="182" name="Google Shape;18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15775" y="1271588"/>
            <a:ext cx="3295650" cy="260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2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Funciones</a:t>
            </a:r>
            <a:endParaRPr/>
          </a:p>
        </p:txBody>
      </p:sp>
      <p:pic>
        <p:nvPicPr>
          <p:cNvPr id="188" name="Google Shape;18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9088" y="1051175"/>
            <a:ext cx="3629025" cy="358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3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Funciones</a:t>
            </a:r>
            <a:endParaRPr/>
          </a:p>
        </p:txBody>
      </p:sp>
      <p:pic>
        <p:nvPicPr>
          <p:cNvPr id="194" name="Google Shape;19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4550" y="1051175"/>
            <a:ext cx="7658109" cy="378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4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Ejercicios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34"/>
          <p:cNvSpPr txBox="1"/>
          <p:nvPr/>
        </p:nvSpPr>
        <p:spPr>
          <a:xfrm>
            <a:off x="418375" y="1594225"/>
            <a:ext cx="77994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Encontrar el factorial (n!) de un número, donde n! = (1*2*3*4*...*n) y 0!=1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Ejemplo: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		10! = 3628800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		5! = 120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Encontrar para: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		15!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		19!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		4!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>
                <a:latin typeface="Lato"/>
                <a:ea typeface="Lato"/>
                <a:cs typeface="Lato"/>
                <a:sym typeface="Lato"/>
              </a:rPr>
              <a:t>Aunque es facilísimo recorrer todo el arreglo, la recursión se ve más elegante</a:t>
            </a:r>
            <a:endParaRPr i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1" name="Google Shape;201;p34"/>
          <p:cNvSpPr txBox="1"/>
          <p:nvPr/>
        </p:nvSpPr>
        <p:spPr>
          <a:xfrm>
            <a:off x="418375" y="978625"/>
            <a:ext cx="7889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Estos ejercicios usan lógica de programación para reforzar y repetir las bases de Python. En estos casos, se usan sólo las bases.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5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Ejercicios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35"/>
          <p:cNvSpPr txBox="1"/>
          <p:nvPr/>
        </p:nvSpPr>
        <p:spPr>
          <a:xfrm>
            <a:off x="388475" y="1098175"/>
            <a:ext cx="78216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Intercambiar minúsculas por mayúsculas para cualquier string.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Ejemplo: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	“bigData” = “BIGdATA”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	“xWdSsRRuv” = “XwDsSrrUV”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Encontrar para: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	“jeLoU”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	“kMeanS”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	“dbSCAN”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8" name="Google Shape;208;p35"/>
          <p:cNvSpPr txBox="1"/>
          <p:nvPr/>
        </p:nvSpPr>
        <p:spPr>
          <a:xfrm>
            <a:off x="7150200" y="485600"/>
            <a:ext cx="1673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Clue: lower(), upper()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Ejercicios</a:t>
            </a:r>
            <a:endParaRPr/>
          </a:p>
        </p:txBody>
      </p:sp>
      <p:sp>
        <p:nvSpPr>
          <p:cNvPr id="214" name="Google Shape;214;p36"/>
          <p:cNvSpPr txBox="1"/>
          <p:nvPr/>
        </p:nvSpPr>
        <p:spPr>
          <a:xfrm>
            <a:off x="425825" y="1157950"/>
            <a:ext cx="8187900" cy="44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Bubble sort (of)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Encontrar el valor mínimo dentro de una lista.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	Ex. l = [3,2,4,5]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Resultado esperado:	mn = 3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	¿Por qué?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	mn = l[0]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	Para i en l: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Si mn &gt; l[i]: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	mn = l[i]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Regresar mn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[1] mn = 3, mn &gt; 3?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[2] mn = 3, mn &gt; 2? -&gt; mn =2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[3] mn = 2, mn &gt; 4?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[3] mn = 2, mn &gt; 5?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Regresa mn = 2.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	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7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Ejercicios</a:t>
            </a:r>
            <a:endParaRPr/>
          </a:p>
        </p:txBody>
      </p:sp>
      <p:sp>
        <p:nvSpPr>
          <p:cNvPr id="220" name="Google Shape;220;p37"/>
          <p:cNvSpPr txBox="1"/>
          <p:nvPr/>
        </p:nvSpPr>
        <p:spPr>
          <a:xfrm>
            <a:off x="463175" y="1060825"/>
            <a:ext cx="782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1" name="Google Shape;221;p37"/>
          <p:cNvSpPr txBox="1"/>
          <p:nvPr/>
        </p:nvSpPr>
        <p:spPr>
          <a:xfrm>
            <a:off x="440775" y="1143000"/>
            <a:ext cx="82626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De una lista “l”, encontrar los sub arreglos que sean mayores o igual que un valor K.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Ejemplo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	l = [10, 2, 4, 6, 3]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	k = 10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	Resultado esperado: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	r = [10], [10,2], [10,2,4], [10,2,4,6],[10,2,4,6,3], [2,4,6], [2,4,6,3], [4,6],[4,6,3]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Encontrar para: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	l = [1,4,2,3,1]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	k = 5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	l = [1,1,3,2,6,1,4,9,3,1]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	k = 7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2" name="Google Shape;222;p37"/>
          <p:cNvSpPr txBox="1"/>
          <p:nvPr/>
        </p:nvSpPr>
        <p:spPr>
          <a:xfrm>
            <a:off x="7150200" y="485600"/>
            <a:ext cx="16737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Clue: Ciclos anidados</a:t>
            </a:r>
            <a:r>
              <a:rPr lang="es"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s" sz="1050">
                <a:solidFill>
                  <a:srgbClr val="795E26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ord</a:t>
            </a:r>
            <a:r>
              <a:rPr lang="es" sz="1050">
                <a:solidFill>
                  <a:schemeClr val="dk2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050">
                <a:solidFill>
                  <a:srgbClr val="A31515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"a"</a:t>
            </a:r>
            <a:r>
              <a:rPr lang="es" sz="1050">
                <a:solidFill>
                  <a:schemeClr val="dk2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)=97</a:t>
            </a:r>
            <a:endParaRPr sz="1050">
              <a:solidFill>
                <a:schemeClr val="dk2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rgbClr val="795E26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ord</a:t>
            </a:r>
            <a:r>
              <a:rPr lang="es" sz="1050">
                <a:solidFill>
                  <a:schemeClr val="dk2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050">
                <a:solidFill>
                  <a:srgbClr val="A31515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"A"</a:t>
            </a:r>
            <a:r>
              <a:rPr lang="es" sz="1050">
                <a:solidFill>
                  <a:schemeClr val="dk2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)=65</a:t>
            </a:r>
            <a:endParaRPr sz="1050">
              <a:solidFill>
                <a:schemeClr val="dk2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8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Ejercicios</a:t>
            </a:r>
            <a:endParaRPr/>
          </a:p>
        </p:txBody>
      </p:sp>
      <p:sp>
        <p:nvSpPr>
          <p:cNvPr id="228" name="Google Shape;228;p38"/>
          <p:cNvSpPr txBox="1"/>
          <p:nvPr/>
        </p:nvSpPr>
        <p:spPr>
          <a:xfrm>
            <a:off x="1023475" y="1374600"/>
            <a:ext cx="69402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En una empresa, se lleva control de crecimiento de usuarios e ingresos, si cada día se representa como el índice del arreglo de ingresos, encontrar los días donde se alcanzaron objetivos de ingreso. 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Ejemplo: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ingresos = [10, 20, 30, 40, 50, 60, 70, 80, 90, 100]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objetivos = [100, 200, 500]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Resultado esperado = [4, 6, 10]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¿Por qué?, el día 4, se alcanzó un ingreso de 100 (10+20+30+40), el día 6 se alcanzó un total de 210 (10+20+30+40+50+60) y el día 10 se alcanzó un ingreso 550 (10+20+30+40+50+60+70+80+90+100)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Calcular para: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ingresos = [100,200,300,400,500]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objetivos = [300,800,1000,1400]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9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Ejercicios.</a:t>
            </a:r>
            <a:endParaRPr/>
          </a:p>
        </p:txBody>
      </p:sp>
      <p:sp>
        <p:nvSpPr>
          <p:cNvPr id="234" name="Google Shape;234;p39"/>
          <p:cNvSpPr txBox="1"/>
          <p:nvPr/>
        </p:nvSpPr>
        <p:spPr>
          <a:xfrm>
            <a:off x="522950" y="1695825"/>
            <a:ext cx="84120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Crear función de cifrado César con k valores. i.e.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	Cifrado César con k = 1 convertiría “bigdataz” por “cjhebuba”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				  k = 10, “bigdata” -&gt; “lsqnkdk”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				  k = 35, “python” -&gt;  “yhcqxw”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				  k = 26, “wassup” -&gt; “wassup”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	Encontrar los siguientes resultados: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		k = 15, “cigarro”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		k = 29, “documentacion”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5" name="Google Shape;235;p39"/>
          <p:cNvSpPr txBox="1"/>
          <p:nvPr/>
        </p:nvSpPr>
        <p:spPr>
          <a:xfrm>
            <a:off x="7261400" y="1172875"/>
            <a:ext cx="16737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Clue: </a:t>
            </a:r>
            <a:r>
              <a:rPr lang="es" sz="1050">
                <a:solidFill>
                  <a:srgbClr val="795E26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ord</a:t>
            </a:r>
            <a:r>
              <a:rPr lang="es" sz="1050">
                <a:solidFill>
                  <a:schemeClr val="dk2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050">
                <a:solidFill>
                  <a:srgbClr val="A31515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"a"</a:t>
            </a:r>
            <a:r>
              <a:rPr lang="es" sz="1050">
                <a:solidFill>
                  <a:schemeClr val="dk2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)=97</a:t>
            </a:r>
            <a:endParaRPr sz="1050">
              <a:solidFill>
                <a:schemeClr val="dk2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rgbClr val="795E26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ord</a:t>
            </a:r>
            <a:r>
              <a:rPr lang="es" sz="1050">
                <a:solidFill>
                  <a:schemeClr val="dk2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050">
                <a:solidFill>
                  <a:srgbClr val="A31515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"A"</a:t>
            </a:r>
            <a:r>
              <a:rPr lang="es" sz="1050">
                <a:solidFill>
                  <a:schemeClr val="dk2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)=65</a:t>
            </a:r>
            <a:endParaRPr sz="1050">
              <a:solidFill>
                <a:schemeClr val="dk2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0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Ejercicios.</a:t>
            </a:r>
            <a:endParaRPr/>
          </a:p>
        </p:txBody>
      </p:sp>
      <p:sp>
        <p:nvSpPr>
          <p:cNvPr id="241" name="Google Shape;241;p40"/>
          <p:cNvSpPr txBox="1"/>
          <p:nvPr/>
        </p:nvSpPr>
        <p:spPr>
          <a:xfrm>
            <a:off x="515475" y="1016000"/>
            <a:ext cx="8412000" cy="42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En algunos países, es imposible dar cambio de algunas denominaciones, por ejemplo, para una cuenta de $10.92, no hay denominaciones para recibir cambio si se paga con $11, tendríamos que recibir $1 o un chicle (que no se considera en denominaciones monetarias).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Para una lista de denominaciones y una cantidad objetivo, encontrar si es posible o no dar cambio.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Ejemplo 1: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	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	Denominaciones = [5, 10, 25, 100, 200], Objetivo = 94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Resultado: Falso, no hay manera pues tenemos denominaciones múltiplos de 5, 95 no es múltiplo de 5.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Ejemplo 2: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	Denominaciones = [4, 17, 29], Objetivo = 75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	Resultado: Verdadero, pues, con dos billetes de 29 y uno de 17 podemos crear la cantidad de 75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Encontrar para: 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	Denominaciones = [4, 2, 7], Objetivo = 19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	Denominaciones = [309, 64, 18, 42, 159], Objetivo = 1026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2" name="Google Shape;242;p40"/>
          <p:cNvSpPr txBox="1"/>
          <p:nvPr/>
        </p:nvSpPr>
        <p:spPr>
          <a:xfrm>
            <a:off x="7067175" y="273875"/>
            <a:ext cx="1673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Clue: Recursión</a:t>
            </a:r>
            <a:endParaRPr sz="1050">
              <a:solidFill>
                <a:schemeClr val="dk2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