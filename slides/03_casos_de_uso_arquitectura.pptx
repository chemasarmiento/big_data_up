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Robo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A4F46E-D90D-4228-A283-05C290F24022}">
  <a:tblStyle styleId="{80A4F46E-D90D-4228-A283-05C290F240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-italic.fntdata"/><Relationship Id="rId30" Type="http://schemas.openxmlformats.org/officeDocument/2006/relationships/font" Target="fonts/Raleway-bold.fntdata"/><Relationship Id="rId11" Type="http://schemas.openxmlformats.org/officeDocument/2006/relationships/slide" Target="slides/slide5.xml"/><Relationship Id="rId33" Type="http://schemas.openxmlformats.org/officeDocument/2006/relationships/font" Target="fonts/Roboto-regular.fntdata"/><Relationship Id="rId10" Type="http://schemas.openxmlformats.org/officeDocument/2006/relationships/slide" Target="slides/slide4.xml"/><Relationship Id="rId32" Type="http://schemas.openxmlformats.org/officeDocument/2006/relationships/font" Target="fonts/Raleway-boldItalic.fntdata"/><Relationship Id="rId13" Type="http://schemas.openxmlformats.org/officeDocument/2006/relationships/slide" Target="slides/slide7.xml"/><Relationship Id="rId35" Type="http://schemas.openxmlformats.org/officeDocument/2006/relationships/font" Target="fonts/Roboto-italic.fntdata"/><Relationship Id="rId12" Type="http://schemas.openxmlformats.org/officeDocument/2006/relationships/slide" Target="slides/slide6.xml"/><Relationship Id="rId34" Type="http://schemas.openxmlformats.org/officeDocument/2006/relationships/font" Target="fonts/Robot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49f17513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49f17513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49f17513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49f17513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49f17513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49f17513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49f17513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49f17513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49f175130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49f175130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49f17513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49f17513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49f175130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49f17513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49f175130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49f175130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49f17513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49f17513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9f17513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9f17513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9f175130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9f175130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49f175130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49f175130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49f175130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49f17513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49f175130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49f17513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49f17513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49f17513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49f175130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49f175130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49f175130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49f175130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49f175130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49f17513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49f17513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49f17513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49f175130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49f17513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49f175130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49f175130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este punto, originar la creación de la cuenta de Google, y si no, vale mare! XD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/>
            </a:br>
            <a:r>
              <a:rPr lang="es"/>
              <a:t>Casos de uso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Marketing</a:t>
            </a:r>
            <a:endParaRPr/>
          </a:p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Personalización y Latencia</a:t>
            </a:r>
            <a:endParaRPr/>
          </a:p>
        </p:txBody>
      </p:sp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Usando Velocidad y Volúmen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1750" y="0"/>
            <a:ext cx="576733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000" y="77775"/>
            <a:ext cx="432494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Marketing: Personalización y latencia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de pipeline: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Ingesta. Accede al perfil del usuario, usando bases de datos en memoria (como Redis) para crear los features relevantes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Predicción: Usa un modelo de Machine Learning para calcular la probabilidad de clic, usando modelos de complejidad baja (RegLog o Árboles)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Decisión: Aplicar reglas para ajustar 'bid'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Finanzas</a:t>
            </a:r>
            <a:endParaRPr/>
          </a:p>
        </p:txBody>
      </p:sp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HFT y Algoritmic Trading</a:t>
            </a:r>
            <a:endParaRPr/>
          </a:p>
        </p:txBody>
      </p:sp>
      <p:sp>
        <p:nvSpPr>
          <p:cNvPr id="89" name="Google Shape;89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Velocidad, Variedad y Veracidad.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525" y="152400"/>
            <a:ext cx="829073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Finanzas: Decisiones rápidas que cuestan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HFT o High Frequency Trading depende de decisiones en casos complejos usando precios (Tiempo real) + Noticias (No estructurados) + Datos Fundamentales (Estructurado y temporalidad extensa)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¿Cómo garantizar la sincronización?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¿Cuánto comprar?¿Cuánto vender?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Evaluar riesgo y PnL por cada operación.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Healthcare</a:t>
            </a:r>
            <a:endParaRPr/>
          </a:p>
        </p:txBody>
      </p:sp>
      <p:sp>
        <p:nvSpPr>
          <p:cNvPr id="106" name="Google Shape;106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Seguridad e Integración</a:t>
            </a:r>
            <a:endParaRPr/>
          </a:p>
        </p:txBody>
      </p:sp>
      <p:sp>
        <p:nvSpPr>
          <p:cNvPr id="107" name="Google Shape;10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Variedad, Veracidad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300" y="321718"/>
            <a:ext cx="6562050" cy="45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Healthcare: Datos sensibles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reto aquí, no es almacenarlos, sino la interoperabilidad entre sistemas que aseguren privacidad y veracidad.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Un pequeño error puede costar una vida.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88" y="168325"/>
            <a:ext cx="8878226" cy="422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146"/>
            <a:ext cx="9143999" cy="5125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0" y="112225"/>
            <a:ext cx="9144000" cy="472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98726" cy="45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136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Infraestructura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Conceptos Básicos</a:t>
            </a:r>
            <a:endParaRPr/>
          </a:p>
        </p:txBody>
      </p:sp>
      <p:sp>
        <p:nvSpPr>
          <p:cNvPr id="154" name="Google Shape;15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On-Premise</a:t>
            </a:r>
            <a:r>
              <a:rPr lang="es"/>
              <a:t>: Todo el hardware vive en las instalaciones del propietario, ofrece seguridad perimetral y control total dentro de un espacio físico observable.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Cloud </a:t>
            </a:r>
            <a:r>
              <a:rPr lang="es" sz="1100"/>
              <a:t>(así como big data, fuzzy definition)</a:t>
            </a:r>
            <a:r>
              <a:rPr lang="es"/>
              <a:t>: “Uso de servidores remotos conectados a Internet para explotar almacenamiento, procesamiento y administración de datos, redes y software”.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Cloud computing: </a:t>
            </a:r>
            <a:r>
              <a:rPr lang="es"/>
              <a:t>Uso de arquitectura y servicios de forma entrelazada para la implementación de una solución.</a:t>
            </a:r>
            <a:endParaRPr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" name="Google Shape;159;p31"/>
          <p:cNvGraphicFramePr/>
          <p:nvPr/>
        </p:nvGraphicFramePr>
        <p:xfrm>
          <a:off x="1001475" y="13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{80A4F46E-D90D-4228-A283-05C290F24022}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On premise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Cloud Computing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En Big Data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Costo inicial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Alto, requiere inversión en hardware, espacio, licencias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Sin inversión en hardware, se paga por consumo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La experimentación es costosa y lenta On-Premise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Elasticidad y Escalabilidad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La escala está limitada al hardware adquirido.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Capacidad virtualmente ilimitada, se escala en minutos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Fundamental para picos de Volumen y Velocidad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Control y propiedad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Total, control físico y lógicos de la infraestructura y datos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Compartido, el proveedor gestiona hardware, el usuario gestiona la aplicación y datos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Necesario para datos con requisitos de residencia o seguridad estrictos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Mantenimiento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Alto Overhead. El equipo es responsable por fallas en hardware y en seguridad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El proveedor gestiona infraestructura y plataforma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Permite enfocarse en procesos ETL en lugar de infraestructura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Tecnología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Sujeto al ciclo de vida del hardware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Acceso inmediato a nueva tecnología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Acelera implementación de </a:t>
                      </a:r>
                      <a:r>
                        <a:rPr lang="es" sz="1200"/>
                        <a:t>sistemas</a:t>
                      </a:r>
                      <a:r>
                        <a:rPr lang="es" sz="1200"/>
                        <a:t> con hardware especializado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4100" y="82050"/>
            <a:ext cx="5197922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25" y="492723"/>
            <a:ext cx="9143999" cy="3766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Y qué hay en la nube?</a:t>
            </a:r>
            <a:endParaRPr/>
          </a:p>
        </p:txBody>
      </p:sp>
      <p:sp>
        <p:nvSpPr>
          <p:cNvPr id="175" name="Google Shape;17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Categorización no extensiva pero relevante.</a:t>
            </a:r>
            <a:endParaRPr/>
          </a:p>
        </p:txBody>
      </p:sp>
      <p:graphicFrame>
        <p:nvGraphicFramePr>
          <p:cNvPr id="176" name="Google Shape;176;p34"/>
          <p:cNvGraphicFramePr/>
          <p:nvPr/>
        </p:nvGraphicFramePr>
        <p:xfrm>
          <a:off x="597125" y="185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{80A4F46E-D90D-4228-A283-05C290F24022}</a:tableStyleId>
              </a:tblPr>
              <a:tblGrid>
                <a:gridCol w="2551725"/>
                <a:gridCol w="2551725"/>
                <a:gridCol w="2551725"/>
              </a:tblGrid>
              <a:tr h="47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Almacenamiento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Procesamiento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Orquestación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34480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b="1" lang="es"/>
                        <a:t>Archivos</a:t>
                      </a:r>
                      <a:endParaRPr b="1"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b="1" lang="es"/>
                        <a:t>Bases de Datos</a:t>
                      </a:r>
                      <a:endParaRPr b="1"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"/>
                        <a:t>Docker Images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b="1" lang="es"/>
                        <a:t>Instancias virtuales</a:t>
                      </a:r>
                      <a:endParaRPr b="1"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b="1" lang="es"/>
                        <a:t>Clusters</a:t>
                      </a:r>
                      <a:endParaRPr b="1"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b="1" lang="es"/>
                        <a:t>Serverless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b="1" lang="es"/>
                        <a:t>Ejecución automática</a:t>
                      </a:r>
                      <a:endParaRPr b="1"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"/>
                        <a:t>Troubleshooting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b="1" lang="es"/>
                        <a:t>Ingesta de datos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1344800">
                <a:tc>
                  <a:txBody>
                    <a:bodyPr/>
                    <a:lstStyle/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Amazon S3</a:t>
                      </a:r>
                      <a:endParaRPr b="1"/>
                    </a:p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Azure Datalake Storage</a:t>
                      </a:r>
                      <a:endParaRPr b="1"/>
                    </a:p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Google Cloud Storage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AWS EMR </a:t>
                      </a:r>
                      <a:endParaRPr b="1"/>
                    </a:p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Google </a:t>
                      </a:r>
                      <a:r>
                        <a:rPr b="1" lang="es"/>
                        <a:t>Data Proc</a:t>
                      </a:r>
                      <a:endParaRPr b="1"/>
                    </a:p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Azure HDInsight</a:t>
                      </a:r>
                      <a:endParaRPr b="1"/>
                    </a:p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Serverles Analytics (BigQuery, Redshift)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Airflow</a:t>
                      </a:r>
                      <a:endParaRPr b="1"/>
                    </a:p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Cloud Composer</a:t>
                      </a:r>
                      <a:endParaRPr b="1"/>
                    </a:p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Terraform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