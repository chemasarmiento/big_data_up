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5143500" cx="9144000"/>
  <p:notesSz cx="6858000" cy="9144000"/>
  <p:embeddedFontLst>
    <p:embeddedFont>
      <p:font typeface="Raleway"/>
      <p:regular r:id="rId52"/>
      <p:bold r:id="rId53"/>
      <p:italic r:id="rId54"/>
      <p:boldItalic r:id="rId55"/>
    </p:embeddedFont>
    <p:embeddedFont>
      <p:font typeface="Roboto Mono"/>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font" Target="fonts/Raleway-bold.fntdata"/><Relationship Id="rId52" Type="http://schemas.openxmlformats.org/officeDocument/2006/relationships/font" Target="fonts/Raleway-regular.fntdata"/><Relationship Id="rId11" Type="http://schemas.openxmlformats.org/officeDocument/2006/relationships/slide" Target="slides/slide6.xml"/><Relationship Id="rId55" Type="http://schemas.openxmlformats.org/officeDocument/2006/relationships/font" Target="fonts/Raleway-boldItalic.fntdata"/><Relationship Id="rId10" Type="http://schemas.openxmlformats.org/officeDocument/2006/relationships/slide" Target="slides/slide5.xml"/><Relationship Id="rId54" Type="http://schemas.openxmlformats.org/officeDocument/2006/relationships/font" Target="fonts/Raleway-italic.fntdata"/><Relationship Id="rId13" Type="http://schemas.openxmlformats.org/officeDocument/2006/relationships/slide" Target="slides/slide8.xml"/><Relationship Id="rId57" Type="http://schemas.openxmlformats.org/officeDocument/2006/relationships/font" Target="fonts/RobotoMono-bold.fntdata"/><Relationship Id="rId12" Type="http://schemas.openxmlformats.org/officeDocument/2006/relationships/slide" Target="slides/slide7.xml"/><Relationship Id="rId56" Type="http://schemas.openxmlformats.org/officeDocument/2006/relationships/font" Target="fonts/RobotoMono-regular.fntdata"/><Relationship Id="rId15" Type="http://schemas.openxmlformats.org/officeDocument/2006/relationships/slide" Target="slides/slide10.xml"/><Relationship Id="rId59" Type="http://schemas.openxmlformats.org/officeDocument/2006/relationships/font" Target="fonts/RobotoMono-boldItalic.fntdata"/><Relationship Id="rId14" Type="http://schemas.openxmlformats.org/officeDocument/2006/relationships/slide" Target="slides/slide9.xml"/><Relationship Id="rId58" Type="http://schemas.openxmlformats.org/officeDocument/2006/relationships/font" Target="fonts/RobotoMono-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c4ee0bea3d_0_42: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c4ee0bea3d_0_7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c4ee0bea3d_0_98: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c4ee0bea3d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c4ee0bea3d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c4ee0bea3d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c4ee0bea3d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c4ee0bea3d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c4ee0bea3d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c4ee0bea3d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c4ee0bea3d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c4ee0bea3d_0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c4ee0bea3d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c4ee0bea3d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c4ee0bea3d_0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c4ee0bea3d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c4ee0bea3d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c4ee0bea3d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c4ee0bea3d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c4ee0bea3d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c4ee0bea3d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c4ee0bea3d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c4ee0bea3d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c4ee0bea3d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c4ee0bea3d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c4ee0bea3d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c4ee0bea3d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c4ee0bea3d_0_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c4ee0bea3d_0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c4ee0bea3d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c4ee0bea3d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c4ee0bea3d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c4ee0bea3d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c4ee0bea3d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c4ee0bea3d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c4ee0bea3d_0_126: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c4ee0bea3d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c4ee0bea3d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c4ee0bea3d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c4ee0bea3d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c4ee0bea3d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c4ee0bea3d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c4ee0bea3d_0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c4ee0bea3d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c4ee0bea3d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c4ee0bea3d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c4ee0bea3d_0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c4ee0bea3d_0_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c4ee0bea3d_0_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c4ee0bea3d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c4ee0bea3d_0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c4ee0bea3d_0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c4ee0bea3d_0_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c4ee0bea3d_0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c4ee0bea3d_0_15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c4ee0bea3d_0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c4ee0bea3d_0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c4ee0bea3d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c4ee0bea3d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c4ee0bea3d_0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c4ee0bea3d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c4ee0bea3d_0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c4ee0bea3d_0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c4ee0bea3d_0_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c4ee0bea3d_0_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c4ee0bea3d_0_17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c4ee0bea3d_0_198: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c4ee0bea3d_0_222: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c4ee0bea3d_0_25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c4ee0bea3d_0_278: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c4ee0bea3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c4ee0bea3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c4ee0bea3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c4ee0bea3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c4ee0bea3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c4ee0bea3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c4ee0bea3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c4ee0bea3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c4ee0bea3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c4ee0bea3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B">
  <p:cSld name="TITLE_AND_BODY_2_1_2">
    <p:spTree>
      <p:nvGrpSpPr>
        <p:cNvPr id="50" name="Shape 50"/>
        <p:cNvGrpSpPr/>
        <p:nvPr/>
      </p:nvGrpSpPr>
      <p:grpSpPr>
        <a:xfrm>
          <a:off x="0" y="0"/>
          <a:ext cx="0" cy="0"/>
          <a:chOff x="0" y="0"/>
          <a:chExt cx="0" cy="0"/>
        </a:xfrm>
      </p:grpSpPr>
      <p:sp>
        <p:nvSpPr>
          <p:cNvPr id="51" name="Google Shape;51;p13"/>
          <p:cNvSpPr/>
          <p:nvPr>
            <p:ph idx="2" type="pic"/>
          </p:nvPr>
        </p:nvSpPr>
        <p:spPr>
          <a:xfrm>
            <a:off x="0" y="0"/>
            <a:ext cx="5148000" cy="5143500"/>
          </a:xfrm>
          <a:prstGeom prst="rect">
            <a:avLst/>
          </a:prstGeom>
          <a:noFill/>
          <a:ln>
            <a:noFill/>
          </a:ln>
        </p:spPr>
      </p:sp>
      <p:sp>
        <p:nvSpPr>
          <p:cNvPr id="52" name="Google Shape;52;p13"/>
          <p:cNvSpPr txBox="1"/>
          <p:nvPr>
            <p:ph type="title"/>
          </p:nvPr>
        </p:nvSpPr>
        <p:spPr>
          <a:xfrm>
            <a:off x="5427950" y="289525"/>
            <a:ext cx="3405900" cy="1093500"/>
          </a:xfrm>
          <a:prstGeom prst="rect">
            <a:avLst/>
          </a:prstGeom>
        </p:spPr>
        <p:txBody>
          <a:bodyPr anchorCtr="0" anchor="t" bIns="0" lIns="0" spcFirstLastPara="1" rIns="0" wrap="square" tIns="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3" name="Google Shape;53;p13"/>
          <p:cNvSpPr txBox="1"/>
          <p:nvPr>
            <p:ph idx="1" type="body"/>
          </p:nvPr>
        </p:nvSpPr>
        <p:spPr>
          <a:xfrm>
            <a:off x="5427950" y="1565672"/>
            <a:ext cx="3405900" cy="3288300"/>
          </a:xfrm>
          <a:prstGeom prst="rect">
            <a:avLst/>
          </a:prstGeom>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I">
  <p:cSld name="TITLE_AND_BODY_2_1_1_1_2">
    <p:spTree>
      <p:nvGrpSpPr>
        <p:cNvPr id="54" name="Shape 54"/>
        <p:cNvGrpSpPr/>
        <p:nvPr/>
      </p:nvGrpSpPr>
      <p:grpSpPr>
        <a:xfrm>
          <a:off x="0" y="0"/>
          <a:ext cx="0" cy="0"/>
          <a:chOff x="0" y="0"/>
          <a:chExt cx="0" cy="0"/>
        </a:xfrm>
      </p:grpSpPr>
      <p:sp>
        <p:nvSpPr>
          <p:cNvPr id="55" name="Google Shape;55;p14"/>
          <p:cNvSpPr txBox="1"/>
          <p:nvPr>
            <p:ph type="title"/>
          </p:nvPr>
        </p:nvSpPr>
        <p:spPr>
          <a:xfrm>
            <a:off x="507450" y="331400"/>
            <a:ext cx="8129100" cy="796200"/>
          </a:xfrm>
          <a:prstGeom prst="rect">
            <a:avLst/>
          </a:prstGeom>
        </p:spPr>
        <p:txBody>
          <a:bodyPr anchorCtr="0" anchor="ctr" bIns="0" lIns="0" spcFirstLastPara="1" rIns="0" wrap="square" tIns="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6" name="Google Shape;56;p14"/>
          <p:cNvSpPr txBox="1"/>
          <p:nvPr>
            <p:ph idx="1" type="body"/>
          </p:nvPr>
        </p:nvSpPr>
        <p:spPr>
          <a:xfrm>
            <a:off x="507456" y="1519301"/>
            <a:ext cx="4782300" cy="3090600"/>
          </a:xfrm>
          <a:prstGeom prst="rect">
            <a:avLst/>
          </a:prstGeom>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7" name="Google Shape;57;p14"/>
          <p:cNvSpPr/>
          <p:nvPr>
            <p:ph idx="2" type="pic"/>
          </p:nvPr>
        </p:nvSpPr>
        <p:spPr>
          <a:xfrm>
            <a:off x="5545950" y="1519300"/>
            <a:ext cx="3090600" cy="3090600"/>
          </a:xfrm>
          <a:prstGeom prst="roundRect">
            <a:avLst>
              <a:gd fmla="val 50000" name="adj"/>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J">
  <p:cSld name="TITLE_AND_BODY_2_1_1_1_1_1_2">
    <p:spTree>
      <p:nvGrpSpPr>
        <p:cNvPr id="58" name="Shape 58"/>
        <p:cNvGrpSpPr/>
        <p:nvPr/>
      </p:nvGrpSpPr>
      <p:grpSpPr>
        <a:xfrm>
          <a:off x="0" y="0"/>
          <a:ext cx="0" cy="0"/>
          <a:chOff x="0" y="0"/>
          <a:chExt cx="0" cy="0"/>
        </a:xfrm>
      </p:grpSpPr>
      <p:sp>
        <p:nvSpPr>
          <p:cNvPr id="59" name="Google Shape;59;p15"/>
          <p:cNvSpPr/>
          <p:nvPr>
            <p:ph idx="2" type="pic"/>
          </p:nvPr>
        </p:nvSpPr>
        <p:spPr>
          <a:xfrm>
            <a:off x="457200" y="1519300"/>
            <a:ext cx="3090600" cy="3090600"/>
          </a:xfrm>
          <a:prstGeom prst="roundRect">
            <a:avLst>
              <a:gd fmla="val 50000" name="adj"/>
            </a:avLst>
          </a:prstGeom>
          <a:noFill/>
          <a:ln>
            <a:noFill/>
          </a:ln>
        </p:spPr>
      </p:sp>
      <p:sp>
        <p:nvSpPr>
          <p:cNvPr id="60" name="Google Shape;60;p15"/>
          <p:cNvSpPr txBox="1"/>
          <p:nvPr>
            <p:ph type="title"/>
          </p:nvPr>
        </p:nvSpPr>
        <p:spPr>
          <a:xfrm>
            <a:off x="507450" y="331400"/>
            <a:ext cx="8129100" cy="796200"/>
          </a:xfrm>
          <a:prstGeom prst="rect">
            <a:avLst/>
          </a:prstGeom>
        </p:spPr>
        <p:txBody>
          <a:bodyPr anchorCtr="0" anchor="ctr" bIns="0" lIns="0" spcFirstLastPara="1" rIns="0" wrap="square" tIns="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1" name="Google Shape;61;p15"/>
          <p:cNvSpPr txBox="1"/>
          <p:nvPr>
            <p:ph idx="1" type="body"/>
          </p:nvPr>
        </p:nvSpPr>
        <p:spPr>
          <a:xfrm>
            <a:off x="3854182" y="1519301"/>
            <a:ext cx="4782300" cy="3090600"/>
          </a:xfrm>
          <a:prstGeom prst="rect">
            <a:avLst/>
          </a:prstGeom>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extLst>
    <p:ext uri="{DCECCB84-F9BA-43D5-87BE-67443E8EF086}">
      <p15:sldGuideLst>
        <p15:guide id="1" pos="288">
          <p15:clr>
            <a:srgbClr val="E46962"/>
          </p15:clr>
        </p15:guide>
        <p15:guide id="2" orient="horz" pos="288">
          <p15:clr>
            <a:srgbClr val="E46962"/>
          </p15:clr>
        </p15:guide>
        <p15:guide id="3" orient="horz" pos="2880">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C">
  <p:cSld name="TITLE_AND_BODY_2_1_1_1">
    <p:spTree>
      <p:nvGrpSpPr>
        <p:cNvPr id="62" name="Shape 62"/>
        <p:cNvGrpSpPr/>
        <p:nvPr/>
      </p:nvGrpSpPr>
      <p:grpSpPr>
        <a:xfrm>
          <a:off x="0" y="0"/>
          <a:ext cx="0" cy="0"/>
          <a:chOff x="0" y="0"/>
          <a:chExt cx="0" cy="0"/>
        </a:xfrm>
      </p:grpSpPr>
      <p:sp>
        <p:nvSpPr>
          <p:cNvPr id="63" name="Google Shape;63;p16"/>
          <p:cNvSpPr txBox="1"/>
          <p:nvPr>
            <p:ph type="title"/>
          </p:nvPr>
        </p:nvSpPr>
        <p:spPr>
          <a:xfrm>
            <a:off x="327575" y="289525"/>
            <a:ext cx="3548100" cy="1093500"/>
          </a:xfrm>
          <a:prstGeom prst="rect">
            <a:avLst/>
          </a:prstGeom>
        </p:spPr>
        <p:txBody>
          <a:bodyPr anchorCtr="0" anchor="t" bIns="0" lIns="0" spcFirstLastPara="1" rIns="0" wrap="square" tIns="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4" name="Google Shape;64;p16"/>
          <p:cNvSpPr txBox="1"/>
          <p:nvPr>
            <p:ph idx="1" type="body"/>
          </p:nvPr>
        </p:nvSpPr>
        <p:spPr>
          <a:xfrm>
            <a:off x="327575" y="1565671"/>
            <a:ext cx="3548100" cy="3288300"/>
          </a:xfrm>
          <a:prstGeom prst="rect">
            <a:avLst/>
          </a:prstGeom>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5" name="Google Shape;65;p16"/>
          <p:cNvSpPr/>
          <p:nvPr>
            <p:ph idx="2" type="pic"/>
          </p:nvPr>
        </p:nvSpPr>
        <p:spPr>
          <a:xfrm>
            <a:off x="4298349" y="316350"/>
            <a:ext cx="4510800" cy="4510800"/>
          </a:xfrm>
          <a:prstGeom prst="roundRect">
            <a:avLst>
              <a:gd fmla="val 50000" name="adj"/>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E">
  <p:cSld name="TITLE_AND_BODY_2_1_1_1_1_1_1">
    <p:spTree>
      <p:nvGrpSpPr>
        <p:cNvPr id="66" name="Shape 66"/>
        <p:cNvGrpSpPr/>
        <p:nvPr/>
      </p:nvGrpSpPr>
      <p:grpSpPr>
        <a:xfrm>
          <a:off x="0" y="0"/>
          <a:ext cx="0" cy="0"/>
          <a:chOff x="0" y="0"/>
          <a:chExt cx="0" cy="0"/>
        </a:xfrm>
      </p:grpSpPr>
      <p:sp>
        <p:nvSpPr>
          <p:cNvPr id="67" name="Google Shape;67;p17"/>
          <p:cNvSpPr txBox="1"/>
          <p:nvPr>
            <p:ph type="title"/>
          </p:nvPr>
        </p:nvSpPr>
        <p:spPr>
          <a:xfrm>
            <a:off x="5145700" y="226400"/>
            <a:ext cx="3651900" cy="1094400"/>
          </a:xfrm>
          <a:prstGeom prst="rect">
            <a:avLst/>
          </a:prstGeom>
        </p:spPr>
        <p:txBody>
          <a:bodyPr anchorCtr="0" anchor="t" bIns="0" lIns="0" spcFirstLastPara="1" rIns="0" wrap="square" tIns="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 name="Google Shape;68;p17"/>
          <p:cNvSpPr txBox="1"/>
          <p:nvPr>
            <p:ph idx="1" type="body"/>
          </p:nvPr>
        </p:nvSpPr>
        <p:spPr>
          <a:xfrm>
            <a:off x="5145700" y="1598500"/>
            <a:ext cx="3651900" cy="3318600"/>
          </a:xfrm>
          <a:prstGeom prst="rect">
            <a:avLst/>
          </a:prstGeom>
          <a:ln>
            <a:noFill/>
          </a:ln>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9" name="Google Shape;69;p17"/>
          <p:cNvSpPr/>
          <p:nvPr>
            <p:ph idx="2" type="pic"/>
          </p:nvPr>
        </p:nvSpPr>
        <p:spPr>
          <a:xfrm>
            <a:off x="204047" y="226350"/>
            <a:ext cx="4690800" cy="4690800"/>
          </a:xfrm>
          <a:prstGeom prst="rect">
            <a:avLst/>
          </a:prstGeom>
          <a:noFill/>
          <a:ln>
            <a:noFill/>
          </a:ln>
        </p:spPr>
      </p:sp>
    </p:spTree>
  </p:cSld>
  <p:clrMapOvr>
    <a:masterClrMapping/>
  </p:clrMapOvr>
  <p:extLst>
    <p:ext uri="{DCECCB84-F9BA-43D5-87BE-67443E8EF086}">
      <p15:sldGuideLst>
        <p15:guide id="1" orient="horz" pos="1620">
          <p15:clr>
            <a:srgbClr val="E46962"/>
          </p15:clr>
        </p15:guide>
        <p15:guide id="2" pos="3083">
          <p15:clr>
            <a:srgbClr val="E46962"/>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2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9.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27.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 Id="rId3" Type="http://schemas.openxmlformats.org/officeDocument/2006/relationships/image" Target="../media/image13.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22.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2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 Id="rId3" Type="http://schemas.openxmlformats.org/officeDocument/2006/relationships/image" Target="../media/image25.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 Id="rId3" Type="http://schemas.openxmlformats.org/officeDocument/2006/relationships/image" Target="../media/image30.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29.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6.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Grandes Bases de Datos</a:t>
            </a:r>
            <a:endParaRPr/>
          </a:p>
          <a:p>
            <a:pPr indent="0" lvl="0" marL="0" rtl="0" algn="ctr">
              <a:spcBef>
                <a:spcPts val="0"/>
              </a:spcBef>
              <a:spcAft>
                <a:spcPts val="0"/>
              </a:spcAft>
              <a:buNone/>
            </a:pPr>
            <a:r>
              <a:t/>
            </a:r>
            <a:endParaRPr/>
          </a:p>
        </p:txBody>
      </p:sp>
      <p:sp>
        <p:nvSpPr>
          <p:cNvPr id="75" name="Google Shape;75;p1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9"/>
          <p:cNvSpPr txBox="1"/>
          <p:nvPr>
            <p:ph type="title"/>
          </p:nvPr>
        </p:nvSpPr>
        <p:spPr>
          <a:xfrm>
            <a:off x="5427950" y="289525"/>
            <a:ext cx="3405900" cy="1093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s"/>
              <a:t>Flujo Dataproc y Cloud Storage</a:t>
            </a:r>
            <a:endParaRPr/>
          </a:p>
        </p:txBody>
      </p:sp>
      <p:sp>
        <p:nvSpPr>
          <p:cNvPr id="80" name="Google Shape;80;p19"/>
          <p:cNvSpPr txBox="1"/>
          <p:nvPr>
            <p:ph idx="1" type="body"/>
          </p:nvPr>
        </p:nvSpPr>
        <p:spPr>
          <a:xfrm>
            <a:off x="5427950" y="1565672"/>
            <a:ext cx="3405900" cy="3288300"/>
          </a:xfrm>
          <a:prstGeom prst="rect">
            <a:avLst/>
          </a:prstGeom>
        </p:spPr>
        <p:txBody>
          <a:bodyPr anchorCtr="0" anchor="t" bIns="0" lIns="0" spcFirstLastPara="1" rIns="0" wrap="square" tIns="0">
            <a:normAutofit lnSpcReduction="20000"/>
          </a:bodyPr>
          <a:lstStyle/>
          <a:p>
            <a:pPr indent="-342900" lvl="0" marL="457200" rtl="0" algn="l">
              <a:spcBef>
                <a:spcPts val="0"/>
              </a:spcBef>
              <a:spcAft>
                <a:spcPts val="0"/>
              </a:spcAft>
              <a:buSzPts val="1800"/>
              <a:buChar char="●"/>
            </a:pPr>
            <a:r>
              <a:rPr lang="es"/>
              <a:t>Dataproc es un potente procesador de datos en la nube.</a:t>
            </a:r>
            <a:endParaRPr/>
          </a:p>
          <a:p>
            <a:pPr indent="-342900" lvl="0" marL="457200" rtl="0" algn="l">
              <a:spcBef>
                <a:spcPts val="0"/>
              </a:spcBef>
              <a:spcAft>
                <a:spcPts val="0"/>
              </a:spcAft>
              <a:buSzPts val="1800"/>
              <a:buChar char="●"/>
            </a:pPr>
            <a:r>
              <a:rPr lang="es"/>
              <a:t>Utilizar Hive para consultar datos estructurados en Cloud Storage.</a:t>
            </a:r>
            <a:endParaRPr/>
          </a:p>
          <a:p>
            <a:pPr indent="-342900" lvl="0" marL="457200" rtl="0" algn="l">
              <a:spcBef>
                <a:spcPts val="0"/>
              </a:spcBef>
              <a:spcAft>
                <a:spcPts val="0"/>
              </a:spcAft>
              <a:buSzPts val="1800"/>
              <a:buChar char="●"/>
            </a:pPr>
            <a:r>
              <a:rPr lang="es"/>
              <a:t>Dataproc utiliza clústeres efímeros para el procesamiento.</a:t>
            </a:r>
            <a:endParaRPr/>
          </a:p>
          <a:p>
            <a:pPr indent="-342900" lvl="0" marL="457200" rtl="0" algn="l">
              <a:spcBef>
                <a:spcPts val="0"/>
              </a:spcBef>
              <a:spcAft>
                <a:spcPts val="0"/>
              </a:spcAft>
              <a:buSzPts val="1800"/>
              <a:buChar char="●"/>
            </a:pPr>
            <a:r>
              <a:rPr lang="es"/>
              <a:t>El flujo comienza con la ingesta de datos en Cloud Storage.</a:t>
            </a:r>
            <a:endParaRPr/>
          </a:p>
        </p:txBody>
      </p:sp>
      <p:pic>
        <p:nvPicPr>
          <p:cNvPr id="81" name="Google Shape;81;p19"/>
          <p:cNvPicPr preferRelativeResize="0"/>
          <p:nvPr>
            <p:ph idx="2" type="pic"/>
          </p:nvPr>
        </p:nvPicPr>
        <p:blipFill>
          <a:blip r:embed="rId3">
            <a:alphaModFix/>
          </a:blip>
          <a:stretch>
            <a:fillRect/>
          </a:stretch>
        </p:blipFill>
        <p:spPr>
          <a:xfrm>
            <a:off x="0" y="0"/>
            <a:ext cx="5148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20"/>
          <p:cNvSpPr txBox="1"/>
          <p:nvPr>
            <p:ph type="title"/>
          </p:nvPr>
        </p:nvSpPr>
        <p:spPr>
          <a:xfrm>
            <a:off x="507450" y="331400"/>
            <a:ext cx="8129100" cy="7962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s"/>
              <a:t>Data Lake (Cloud Storage)</a:t>
            </a:r>
            <a:endParaRPr/>
          </a:p>
        </p:txBody>
      </p:sp>
      <p:sp>
        <p:nvSpPr>
          <p:cNvPr id="86" name="Google Shape;86;p20"/>
          <p:cNvSpPr txBox="1"/>
          <p:nvPr>
            <p:ph idx="1" type="body"/>
          </p:nvPr>
        </p:nvSpPr>
        <p:spPr>
          <a:xfrm>
            <a:off x="507456" y="1519301"/>
            <a:ext cx="4782300" cy="3090600"/>
          </a:xfrm>
          <a:prstGeom prst="rect">
            <a:avLst/>
          </a:prstGeom>
        </p:spPr>
        <p:txBody>
          <a:bodyPr anchorCtr="0" anchor="t" bIns="0" lIns="0" spcFirstLastPara="1" rIns="0" wrap="square" tIns="0">
            <a:normAutofit lnSpcReduction="10000"/>
          </a:bodyPr>
          <a:lstStyle/>
          <a:p>
            <a:pPr indent="-342900" lvl="0" marL="457200" rtl="0" algn="l">
              <a:spcBef>
                <a:spcPts val="0"/>
              </a:spcBef>
              <a:spcAft>
                <a:spcPts val="0"/>
              </a:spcAft>
              <a:buSzPts val="1800"/>
              <a:buChar char="●"/>
            </a:pPr>
            <a:r>
              <a:rPr lang="es"/>
              <a:t>Los datos se almacenan en buckets de Cloud Storage (gs://...).</a:t>
            </a:r>
            <a:endParaRPr/>
          </a:p>
          <a:p>
            <a:pPr indent="-342900" lvl="0" marL="457200" rtl="0" algn="l">
              <a:spcBef>
                <a:spcPts val="0"/>
              </a:spcBef>
              <a:spcAft>
                <a:spcPts val="0"/>
              </a:spcAft>
              <a:buSzPts val="1800"/>
              <a:buChar char="●"/>
            </a:pPr>
            <a:r>
              <a:rPr lang="es"/>
              <a:t>El almacenamiento es permanente y no depende de Dataproc.</a:t>
            </a:r>
            <a:endParaRPr/>
          </a:p>
          <a:p>
            <a:pPr indent="-342900" lvl="0" marL="457200" rtl="0" algn="l">
              <a:spcBef>
                <a:spcPts val="0"/>
              </a:spcBef>
              <a:spcAft>
                <a:spcPts val="0"/>
              </a:spcAft>
              <a:buSzPts val="1800"/>
              <a:buChar char="●"/>
            </a:pPr>
            <a:r>
              <a:rPr lang="es"/>
              <a:t>Cloud Storage ofrece gran escalabilidad para archivos comprimidos.</a:t>
            </a:r>
            <a:endParaRPr/>
          </a:p>
          <a:p>
            <a:pPr indent="-342900" lvl="0" marL="457200" rtl="0" algn="l">
              <a:spcBef>
                <a:spcPts val="0"/>
              </a:spcBef>
              <a:spcAft>
                <a:spcPts val="0"/>
              </a:spcAft>
              <a:buSzPts val="1800"/>
              <a:buChar char="●"/>
            </a:pPr>
            <a:r>
              <a:rPr lang="es"/>
              <a:t>Maneja eficientemente texto multilínea sin problemas de rendimiento.</a:t>
            </a:r>
            <a:endParaRPr/>
          </a:p>
          <a:p>
            <a:pPr indent="-342900" lvl="0" marL="457200" rtl="0" algn="l">
              <a:spcBef>
                <a:spcPts val="0"/>
              </a:spcBef>
              <a:spcAft>
                <a:spcPts val="0"/>
              </a:spcAft>
              <a:buSzPts val="1800"/>
              <a:buChar char="●"/>
            </a:pPr>
            <a:r>
              <a:rPr lang="es"/>
              <a:t>Cloud Storage almacena los datos http_sentiment_compressed y email.</a:t>
            </a:r>
            <a:endParaRPr/>
          </a:p>
        </p:txBody>
      </p:sp>
      <p:pic>
        <p:nvPicPr>
          <p:cNvPr id="87" name="Google Shape;87;p20"/>
          <p:cNvPicPr preferRelativeResize="0"/>
          <p:nvPr>
            <p:ph idx="2" type="pic"/>
          </p:nvPr>
        </p:nvPicPr>
        <p:blipFill>
          <a:blip r:embed="rId3">
            <a:alphaModFix/>
          </a:blip>
          <a:stretch>
            <a:fillRect/>
          </a:stretch>
        </p:blipFill>
        <p:spPr>
          <a:xfrm>
            <a:off x="5545950" y="1519300"/>
            <a:ext cx="3090600" cy="3090600"/>
          </a:xfrm>
          <a:prstGeom prst="roundRect">
            <a:avLst>
              <a:gd fmla="val 50000" name="adj"/>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1"/>
          <p:cNvSpPr txBox="1"/>
          <p:nvPr>
            <p:ph type="title"/>
          </p:nvPr>
        </p:nvSpPr>
        <p:spPr>
          <a:xfrm>
            <a:off x="507450" y="331400"/>
            <a:ext cx="8129100" cy="7962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s"/>
              <a:t>Apache Hive: Estructura de datos</a:t>
            </a:r>
            <a:endParaRPr/>
          </a:p>
        </p:txBody>
      </p:sp>
      <p:sp>
        <p:nvSpPr>
          <p:cNvPr id="92" name="Google Shape;92;p21"/>
          <p:cNvSpPr txBox="1"/>
          <p:nvPr>
            <p:ph idx="1" type="body"/>
          </p:nvPr>
        </p:nvSpPr>
        <p:spPr>
          <a:xfrm>
            <a:off x="3854182" y="1519301"/>
            <a:ext cx="4782300" cy="3090600"/>
          </a:xfrm>
          <a:prstGeom prst="rect">
            <a:avLst/>
          </a:prstGeom>
        </p:spPr>
        <p:txBody>
          <a:bodyPr anchorCtr="0" anchor="t" bIns="0" lIns="0" spcFirstLastPara="1" rIns="0" wrap="square" tIns="0">
            <a:normAutofit/>
          </a:bodyPr>
          <a:lstStyle/>
          <a:p>
            <a:pPr indent="-342900" lvl="0" marL="457200" rtl="0" algn="l">
              <a:spcBef>
                <a:spcPts val="0"/>
              </a:spcBef>
              <a:spcAft>
                <a:spcPts val="0"/>
              </a:spcAft>
              <a:buSzPts val="1800"/>
              <a:buChar char="●"/>
            </a:pPr>
            <a:r>
              <a:rPr lang="es"/>
              <a:t>Definición de Tablas Externas para mantener los datos</a:t>
            </a:r>
            <a:endParaRPr/>
          </a:p>
          <a:p>
            <a:pPr indent="-342900" lvl="0" marL="457200" rtl="0" algn="l">
              <a:spcBef>
                <a:spcPts val="0"/>
              </a:spcBef>
              <a:spcAft>
                <a:spcPts val="0"/>
              </a:spcAft>
              <a:buSzPts val="1800"/>
              <a:buChar char="●"/>
            </a:pPr>
            <a:r>
              <a:rPr lang="es"/>
              <a:t>Hive guarda metadatos mientras los datos permanecen en el bucket</a:t>
            </a:r>
            <a:endParaRPr/>
          </a:p>
          <a:p>
            <a:pPr indent="-342900" lvl="0" marL="457200" rtl="0" algn="l">
              <a:spcBef>
                <a:spcPts val="0"/>
              </a:spcBef>
              <a:spcAft>
                <a:spcPts val="0"/>
              </a:spcAft>
              <a:buSzPts val="1800"/>
              <a:buChar char="●"/>
            </a:pPr>
            <a:r>
              <a:rPr lang="es"/>
              <a:t>Transformación eficiente de CSV o Texto a Apache Parquet</a:t>
            </a:r>
            <a:endParaRPr/>
          </a:p>
          <a:p>
            <a:pPr indent="-342900" lvl="0" marL="457200" rtl="0" algn="l">
              <a:spcBef>
                <a:spcPts val="0"/>
              </a:spcBef>
              <a:spcAft>
                <a:spcPts val="0"/>
              </a:spcAft>
              <a:buSzPts val="1800"/>
              <a:buChar char="●"/>
            </a:pPr>
            <a:r>
              <a:rPr lang="es"/>
              <a:t>Manejo de esquemas para convertir archivos planos a tablas relacionales</a:t>
            </a:r>
            <a:endParaRPr/>
          </a:p>
        </p:txBody>
      </p:sp>
      <p:pic>
        <p:nvPicPr>
          <p:cNvPr id="93" name="Google Shape;93;p21"/>
          <p:cNvPicPr preferRelativeResize="0"/>
          <p:nvPr>
            <p:ph idx="2" type="pic"/>
          </p:nvPr>
        </p:nvPicPr>
        <p:blipFill>
          <a:blip r:embed="rId3">
            <a:alphaModFix/>
          </a:blip>
          <a:stretch>
            <a:fillRect/>
          </a:stretch>
        </p:blipFill>
        <p:spPr>
          <a:xfrm>
            <a:off x="457200" y="1519300"/>
            <a:ext cx="3090600" cy="3090600"/>
          </a:xfrm>
          <a:prstGeom prst="roundRect">
            <a:avLst>
              <a:gd fmla="val 50000" name="adj"/>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Creando el clúster para HIVE</a:t>
            </a:r>
            <a:endParaRPr/>
          </a:p>
        </p:txBody>
      </p:sp>
      <p:sp>
        <p:nvSpPr>
          <p:cNvPr id="99" name="Google Shape;9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Entrar a GCP y abrir Cloud Shell, es el ícono de "terminal" arriba a la dercha.</a:t>
            </a:r>
            <a:endParaRPr/>
          </a:p>
        </p:txBody>
      </p:sp>
      <p:pic>
        <p:nvPicPr>
          <p:cNvPr id="100" name="Google Shape;100;p22"/>
          <p:cNvPicPr preferRelativeResize="0"/>
          <p:nvPr/>
        </p:nvPicPr>
        <p:blipFill>
          <a:blip r:embed="rId3">
            <a:alphaModFix/>
          </a:blip>
          <a:stretch>
            <a:fillRect/>
          </a:stretch>
        </p:blipFill>
        <p:spPr>
          <a:xfrm>
            <a:off x="1071050" y="2184938"/>
            <a:ext cx="6667500" cy="2143125"/>
          </a:xfrm>
          <a:prstGeom prst="rect">
            <a:avLst/>
          </a:prstGeom>
          <a:noFill/>
          <a:ln>
            <a:noFill/>
          </a:ln>
        </p:spPr>
      </p:pic>
      <p:cxnSp>
        <p:nvCxnSpPr>
          <p:cNvPr id="101" name="Google Shape;101;p22"/>
          <p:cNvCxnSpPr/>
          <p:nvPr/>
        </p:nvCxnSpPr>
        <p:spPr>
          <a:xfrm>
            <a:off x="4729475" y="1807400"/>
            <a:ext cx="1799400" cy="4140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s"/>
              <a:t>Creando el clúster para HIVE (cont'd)</a:t>
            </a:r>
            <a:endParaRPr/>
          </a:p>
        </p:txBody>
      </p:sp>
      <p:sp>
        <p:nvSpPr>
          <p:cNvPr id="107" name="Google Shape;107;p23"/>
          <p:cNvSpPr txBox="1"/>
          <p:nvPr>
            <p:ph idx="1" type="body"/>
          </p:nvPr>
        </p:nvSpPr>
        <p:spPr>
          <a:xfrm>
            <a:off x="311700" y="1152475"/>
            <a:ext cx="4019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Se abrirá una terminal en la parte inferior de la pantalla, ahí pondremos código de (gcloud) para crear el clúster.</a:t>
            </a:r>
            <a:endParaRPr/>
          </a:p>
          <a:p>
            <a:pPr indent="0" lvl="0" marL="0" rtl="0" algn="l">
              <a:spcBef>
                <a:spcPts val="1200"/>
              </a:spcBef>
              <a:spcAft>
                <a:spcPts val="0"/>
              </a:spcAft>
              <a:buNone/>
            </a:pPr>
            <a:r>
              <a:rPr lang="es" sz="1000">
                <a:solidFill>
                  <a:srgbClr val="FF7B72"/>
                </a:solidFill>
                <a:highlight>
                  <a:srgbClr val="151B23"/>
                </a:highlight>
                <a:latin typeface="Courier New"/>
                <a:ea typeface="Courier New"/>
                <a:cs typeface="Courier New"/>
                <a:sym typeface="Courier New"/>
              </a:rPr>
              <a:t>export</a:t>
            </a:r>
            <a:r>
              <a:rPr lang="es" sz="1000">
                <a:solidFill>
                  <a:srgbClr val="F0F6FC"/>
                </a:solidFill>
                <a:highlight>
                  <a:srgbClr val="151B23"/>
                </a:highlight>
                <a:latin typeface="Courier New"/>
                <a:ea typeface="Courier New"/>
                <a:cs typeface="Courier New"/>
                <a:sym typeface="Courier New"/>
              </a:rPr>
              <a:t> PROJECT_ID=</a:t>
            </a:r>
            <a:r>
              <a:rPr lang="es" sz="1000">
                <a:solidFill>
                  <a:srgbClr val="A5D6FF"/>
                </a:solidFill>
                <a:highlight>
                  <a:srgbClr val="151B23"/>
                </a:highlight>
                <a:latin typeface="Courier New"/>
                <a:ea typeface="Courier New"/>
                <a:cs typeface="Courier New"/>
                <a:sym typeface="Courier New"/>
              </a:rPr>
              <a:t>$(gcloud config get-value project)</a:t>
            </a:r>
            <a:endParaRPr sz="1000">
              <a:solidFill>
                <a:srgbClr val="F0F6FC"/>
              </a:solidFill>
              <a:highlight>
                <a:srgbClr val="151B23"/>
              </a:highlight>
              <a:latin typeface="Courier New"/>
              <a:ea typeface="Courier New"/>
              <a:cs typeface="Courier New"/>
              <a:sym typeface="Courier New"/>
            </a:endParaRPr>
          </a:p>
          <a:p>
            <a:pPr indent="0" lvl="0" marL="0" rtl="0" algn="l">
              <a:spcBef>
                <a:spcPts val="1200"/>
              </a:spcBef>
              <a:spcAft>
                <a:spcPts val="0"/>
              </a:spcAft>
              <a:buNone/>
            </a:pPr>
            <a:r>
              <a:rPr lang="es" sz="1000">
                <a:solidFill>
                  <a:srgbClr val="FF7B72"/>
                </a:solidFill>
                <a:highlight>
                  <a:srgbClr val="151B23"/>
                </a:highlight>
                <a:latin typeface="Courier New"/>
                <a:ea typeface="Courier New"/>
                <a:cs typeface="Courier New"/>
                <a:sym typeface="Courier New"/>
              </a:rPr>
              <a:t>export</a:t>
            </a:r>
            <a:r>
              <a:rPr lang="es" sz="1000">
                <a:solidFill>
                  <a:srgbClr val="F0F6FC"/>
                </a:solidFill>
                <a:highlight>
                  <a:srgbClr val="151B23"/>
                </a:highlight>
                <a:latin typeface="Courier New"/>
                <a:ea typeface="Courier New"/>
                <a:cs typeface="Courier New"/>
                <a:sym typeface="Courier New"/>
              </a:rPr>
              <a:t> REGION=us-central1</a:t>
            </a:r>
            <a:endParaRPr sz="1000">
              <a:solidFill>
                <a:srgbClr val="F0F6FC"/>
              </a:solidFill>
              <a:highlight>
                <a:srgbClr val="151B23"/>
              </a:highlight>
              <a:latin typeface="Courier New"/>
              <a:ea typeface="Courier New"/>
              <a:cs typeface="Courier New"/>
              <a:sym typeface="Courier New"/>
            </a:endParaRPr>
          </a:p>
          <a:p>
            <a:pPr indent="0" lvl="0" marL="0" rtl="0" algn="l">
              <a:spcBef>
                <a:spcPts val="1200"/>
              </a:spcBef>
              <a:spcAft>
                <a:spcPts val="0"/>
              </a:spcAft>
              <a:buNone/>
            </a:pPr>
            <a:r>
              <a:rPr lang="es" sz="1000">
                <a:solidFill>
                  <a:srgbClr val="FF7B72"/>
                </a:solidFill>
                <a:highlight>
                  <a:srgbClr val="151B23"/>
                </a:highlight>
                <a:latin typeface="Courier New"/>
                <a:ea typeface="Courier New"/>
                <a:cs typeface="Courier New"/>
                <a:sym typeface="Courier New"/>
              </a:rPr>
              <a:t>export</a:t>
            </a:r>
            <a:r>
              <a:rPr lang="es" sz="1000">
                <a:solidFill>
                  <a:srgbClr val="F0F6FC"/>
                </a:solidFill>
                <a:highlight>
                  <a:srgbClr val="151B23"/>
                </a:highlight>
                <a:latin typeface="Courier New"/>
                <a:ea typeface="Courier New"/>
                <a:cs typeface="Courier New"/>
                <a:sym typeface="Courier New"/>
              </a:rPr>
              <a:t> ZONE=us-central1-a</a:t>
            </a:r>
            <a:endParaRPr sz="1000">
              <a:solidFill>
                <a:srgbClr val="F0F6FC"/>
              </a:solidFill>
              <a:highlight>
                <a:srgbClr val="151B23"/>
              </a:highlight>
              <a:latin typeface="Courier New"/>
              <a:ea typeface="Courier New"/>
              <a:cs typeface="Courier New"/>
              <a:sym typeface="Courier New"/>
            </a:endParaRPr>
          </a:p>
          <a:p>
            <a:pPr indent="0" lvl="0" marL="0" marR="152400" rtl="0" algn="l">
              <a:lnSpc>
                <a:spcPct val="145000"/>
              </a:lnSpc>
              <a:spcBef>
                <a:spcPts val="1200"/>
              </a:spcBef>
              <a:spcAft>
                <a:spcPts val="0"/>
              </a:spcAft>
              <a:buClr>
                <a:schemeClr val="dk1"/>
              </a:buClr>
              <a:buSzPts val="1100"/>
              <a:buFont typeface="Arial"/>
              <a:buNone/>
            </a:pPr>
            <a:r>
              <a:rPr lang="es" sz="1000">
                <a:solidFill>
                  <a:srgbClr val="FF7B72"/>
                </a:solidFill>
                <a:highlight>
                  <a:srgbClr val="151B23"/>
                </a:highlight>
                <a:latin typeface="Courier New"/>
                <a:ea typeface="Courier New"/>
                <a:cs typeface="Courier New"/>
                <a:sym typeface="Courier New"/>
              </a:rPr>
              <a:t>export</a:t>
            </a:r>
            <a:r>
              <a:rPr lang="es" sz="1000">
                <a:solidFill>
                  <a:srgbClr val="F0F6FC"/>
                </a:solidFill>
                <a:highlight>
                  <a:srgbClr val="151B23"/>
                </a:highlight>
                <a:latin typeface="Courier New"/>
                <a:ea typeface="Courier New"/>
                <a:cs typeface="Courier New"/>
                <a:sym typeface="Courier New"/>
              </a:rPr>
              <a:t> CLUSTER_NAME=hive-learning-cluster</a:t>
            </a:r>
            <a:endParaRPr sz="1000">
              <a:solidFill>
                <a:srgbClr val="F0F6FC"/>
              </a:solidFill>
              <a:highlight>
                <a:srgbClr val="151B23"/>
              </a:highlight>
              <a:latin typeface="Courier New"/>
              <a:ea typeface="Courier New"/>
              <a:cs typeface="Courier New"/>
              <a:sym typeface="Courier New"/>
            </a:endParaRPr>
          </a:p>
          <a:p>
            <a:pPr indent="0" lvl="0" marL="0" rtl="0" algn="l">
              <a:spcBef>
                <a:spcPts val="0"/>
              </a:spcBef>
              <a:spcAft>
                <a:spcPts val="1200"/>
              </a:spcAft>
              <a:buNone/>
            </a:pPr>
            <a:r>
              <a:t/>
            </a:r>
            <a:endParaRPr/>
          </a:p>
        </p:txBody>
      </p:sp>
      <p:sp>
        <p:nvSpPr>
          <p:cNvPr id="108" name="Google Shape;108;p23"/>
          <p:cNvSpPr txBox="1"/>
          <p:nvPr/>
        </p:nvSpPr>
        <p:spPr>
          <a:xfrm>
            <a:off x="4251750" y="1236775"/>
            <a:ext cx="4855500" cy="240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000">
                <a:solidFill>
                  <a:srgbClr val="F0F6FC"/>
                </a:solidFill>
                <a:highlight>
                  <a:srgbClr val="151B23"/>
                </a:highlight>
                <a:latin typeface="Courier New"/>
                <a:ea typeface="Courier New"/>
                <a:cs typeface="Courier New"/>
                <a:sym typeface="Courier New"/>
              </a:rPr>
              <a:t>gcloud dataproc clusters create $CLUSTER_NAME \</a:t>
            </a:r>
            <a:endParaRPr sz="1000">
              <a:solidFill>
                <a:srgbClr val="F0F6FC"/>
              </a:solidFill>
              <a:highlight>
                <a:srgbClr val="151B23"/>
              </a:highlight>
              <a:latin typeface="Courier New"/>
              <a:ea typeface="Courier New"/>
              <a:cs typeface="Courier New"/>
              <a:sym typeface="Courier New"/>
            </a:endParaRPr>
          </a:p>
          <a:p>
            <a:pPr indent="0" lvl="0" marL="0" rtl="0" algn="l">
              <a:spcBef>
                <a:spcPts val="0"/>
              </a:spcBef>
              <a:spcAft>
                <a:spcPts val="0"/>
              </a:spcAft>
              <a:buNone/>
            </a:pPr>
            <a:r>
              <a:rPr lang="es" sz="1000">
                <a:solidFill>
                  <a:srgbClr val="F0F6FC"/>
                </a:solidFill>
                <a:highlight>
                  <a:srgbClr val="151B23"/>
                </a:highlight>
                <a:latin typeface="Courier New"/>
                <a:ea typeface="Courier New"/>
                <a:cs typeface="Courier New"/>
                <a:sym typeface="Courier New"/>
              </a:rPr>
              <a:t>    --project=$PROJECT_ID \</a:t>
            </a:r>
            <a:endParaRPr sz="1000">
              <a:solidFill>
                <a:srgbClr val="F0F6FC"/>
              </a:solidFill>
              <a:highlight>
                <a:srgbClr val="151B23"/>
              </a:highlight>
              <a:latin typeface="Courier New"/>
              <a:ea typeface="Courier New"/>
              <a:cs typeface="Courier New"/>
              <a:sym typeface="Courier New"/>
            </a:endParaRPr>
          </a:p>
          <a:p>
            <a:pPr indent="0" lvl="0" marL="0" rtl="0" algn="l">
              <a:spcBef>
                <a:spcPts val="0"/>
              </a:spcBef>
              <a:spcAft>
                <a:spcPts val="0"/>
              </a:spcAft>
              <a:buNone/>
            </a:pPr>
            <a:r>
              <a:rPr lang="es" sz="1000">
                <a:solidFill>
                  <a:srgbClr val="F0F6FC"/>
                </a:solidFill>
                <a:highlight>
                  <a:srgbClr val="151B23"/>
                </a:highlight>
                <a:latin typeface="Courier New"/>
                <a:ea typeface="Courier New"/>
                <a:cs typeface="Courier New"/>
                <a:sym typeface="Courier New"/>
              </a:rPr>
              <a:t>    --region=$REGION \</a:t>
            </a:r>
            <a:endParaRPr sz="1000">
              <a:solidFill>
                <a:srgbClr val="F0F6FC"/>
              </a:solidFill>
              <a:highlight>
                <a:srgbClr val="151B23"/>
              </a:highlight>
              <a:latin typeface="Courier New"/>
              <a:ea typeface="Courier New"/>
              <a:cs typeface="Courier New"/>
              <a:sym typeface="Courier New"/>
            </a:endParaRPr>
          </a:p>
          <a:p>
            <a:pPr indent="0" lvl="0" marL="0" rtl="0" algn="l">
              <a:spcBef>
                <a:spcPts val="0"/>
              </a:spcBef>
              <a:spcAft>
                <a:spcPts val="0"/>
              </a:spcAft>
              <a:buNone/>
            </a:pPr>
            <a:r>
              <a:rPr lang="es" sz="1000">
                <a:solidFill>
                  <a:srgbClr val="F0F6FC"/>
                </a:solidFill>
                <a:highlight>
                  <a:srgbClr val="151B23"/>
                </a:highlight>
                <a:latin typeface="Courier New"/>
                <a:ea typeface="Courier New"/>
                <a:cs typeface="Courier New"/>
                <a:sym typeface="Courier New"/>
              </a:rPr>
              <a:t>    --zone=$ZONE \</a:t>
            </a:r>
            <a:endParaRPr sz="1000">
              <a:solidFill>
                <a:srgbClr val="F0F6FC"/>
              </a:solidFill>
              <a:highlight>
                <a:srgbClr val="151B23"/>
              </a:highlight>
              <a:latin typeface="Courier New"/>
              <a:ea typeface="Courier New"/>
              <a:cs typeface="Courier New"/>
              <a:sym typeface="Courier New"/>
            </a:endParaRPr>
          </a:p>
          <a:p>
            <a:pPr indent="0" lvl="0" marL="0" rtl="0" algn="l">
              <a:spcBef>
                <a:spcPts val="0"/>
              </a:spcBef>
              <a:spcAft>
                <a:spcPts val="0"/>
              </a:spcAft>
              <a:buNone/>
            </a:pPr>
            <a:r>
              <a:rPr lang="es" sz="1000">
                <a:solidFill>
                  <a:srgbClr val="F0F6FC"/>
                </a:solidFill>
                <a:highlight>
                  <a:srgbClr val="151B23"/>
                </a:highlight>
                <a:latin typeface="Courier New"/>
                <a:ea typeface="Courier New"/>
                <a:cs typeface="Courier New"/>
                <a:sym typeface="Courier New"/>
              </a:rPr>
              <a:t>    --image-version=2.1-ubuntu20 \</a:t>
            </a:r>
            <a:endParaRPr sz="1000">
              <a:solidFill>
                <a:srgbClr val="F0F6FC"/>
              </a:solidFill>
              <a:highlight>
                <a:srgbClr val="151B23"/>
              </a:highlight>
              <a:latin typeface="Courier New"/>
              <a:ea typeface="Courier New"/>
              <a:cs typeface="Courier New"/>
              <a:sym typeface="Courier New"/>
            </a:endParaRPr>
          </a:p>
          <a:p>
            <a:pPr indent="0" lvl="0" marL="0" rtl="0" algn="l">
              <a:spcBef>
                <a:spcPts val="0"/>
              </a:spcBef>
              <a:spcAft>
                <a:spcPts val="0"/>
              </a:spcAft>
              <a:buNone/>
            </a:pPr>
            <a:r>
              <a:rPr lang="es" sz="1000">
                <a:solidFill>
                  <a:srgbClr val="F0F6FC"/>
                </a:solidFill>
                <a:highlight>
                  <a:srgbClr val="151B23"/>
                </a:highlight>
                <a:latin typeface="Courier New"/>
                <a:ea typeface="Courier New"/>
                <a:cs typeface="Courier New"/>
                <a:sym typeface="Courier New"/>
              </a:rPr>
              <a:t>    --master-machine-type n2-standard-2 \</a:t>
            </a:r>
            <a:endParaRPr sz="1000">
              <a:solidFill>
                <a:srgbClr val="F0F6FC"/>
              </a:solidFill>
              <a:highlight>
                <a:srgbClr val="151B23"/>
              </a:highlight>
              <a:latin typeface="Courier New"/>
              <a:ea typeface="Courier New"/>
              <a:cs typeface="Courier New"/>
              <a:sym typeface="Courier New"/>
            </a:endParaRPr>
          </a:p>
          <a:p>
            <a:pPr indent="0" lvl="0" marL="0" rtl="0" algn="l">
              <a:spcBef>
                <a:spcPts val="0"/>
              </a:spcBef>
              <a:spcAft>
                <a:spcPts val="0"/>
              </a:spcAft>
              <a:buNone/>
            </a:pPr>
            <a:r>
              <a:rPr lang="es" sz="1000">
                <a:solidFill>
                  <a:srgbClr val="F0F6FC"/>
                </a:solidFill>
                <a:highlight>
                  <a:srgbClr val="151B23"/>
                </a:highlight>
                <a:latin typeface="Courier New"/>
                <a:ea typeface="Courier New"/>
                <a:cs typeface="Courier New"/>
                <a:sym typeface="Courier New"/>
              </a:rPr>
              <a:t>    --master-boot-disk-size 100 \</a:t>
            </a:r>
            <a:endParaRPr sz="1000">
              <a:solidFill>
                <a:srgbClr val="F0F6FC"/>
              </a:solidFill>
              <a:highlight>
                <a:srgbClr val="151B23"/>
              </a:highlight>
              <a:latin typeface="Courier New"/>
              <a:ea typeface="Courier New"/>
              <a:cs typeface="Courier New"/>
              <a:sym typeface="Courier New"/>
            </a:endParaRPr>
          </a:p>
          <a:p>
            <a:pPr indent="0" lvl="0" marL="0" rtl="0" algn="l">
              <a:spcBef>
                <a:spcPts val="0"/>
              </a:spcBef>
              <a:spcAft>
                <a:spcPts val="0"/>
              </a:spcAft>
              <a:buNone/>
            </a:pPr>
            <a:r>
              <a:rPr lang="es" sz="1000">
                <a:solidFill>
                  <a:srgbClr val="F0F6FC"/>
                </a:solidFill>
                <a:highlight>
                  <a:srgbClr val="151B23"/>
                </a:highlight>
                <a:latin typeface="Courier New"/>
                <a:ea typeface="Courier New"/>
                <a:cs typeface="Courier New"/>
                <a:sym typeface="Courier New"/>
              </a:rPr>
              <a:t>    --num-workers 2 \</a:t>
            </a:r>
            <a:endParaRPr sz="1000">
              <a:solidFill>
                <a:srgbClr val="F0F6FC"/>
              </a:solidFill>
              <a:highlight>
                <a:srgbClr val="151B23"/>
              </a:highlight>
              <a:latin typeface="Courier New"/>
              <a:ea typeface="Courier New"/>
              <a:cs typeface="Courier New"/>
              <a:sym typeface="Courier New"/>
            </a:endParaRPr>
          </a:p>
          <a:p>
            <a:pPr indent="0" lvl="0" marL="0" rtl="0" algn="l">
              <a:spcBef>
                <a:spcPts val="0"/>
              </a:spcBef>
              <a:spcAft>
                <a:spcPts val="0"/>
              </a:spcAft>
              <a:buNone/>
            </a:pPr>
            <a:r>
              <a:rPr lang="es" sz="1000">
                <a:solidFill>
                  <a:srgbClr val="F0F6FC"/>
                </a:solidFill>
                <a:highlight>
                  <a:srgbClr val="151B23"/>
                </a:highlight>
                <a:latin typeface="Courier New"/>
                <a:ea typeface="Courier New"/>
                <a:cs typeface="Courier New"/>
                <a:sym typeface="Courier New"/>
              </a:rPr>
              <a:t>    --worker-machine-type n2-standard-2 \</a:t>
            </a:r>
            <a:endParaRPr sz="1000">
              <a:solidFill>
                <a:srgbClr val="F0F6FC"/>
              </a:solidFill>
              <a:highlight>
                <a:srgbClr val="151B23"/>
              </a:highlight>
              <a:latin typeface="Courier New"/>
              <a:ea typeface="Courier New"/>
              <a:cs typeface="Courier New"/>
              <a:sym typeface="Courier New"/>
            </a:endParaRPr>
          </a:p>
          <a:p>
            <a:pPr indent="0" lvl="0" marL="0" rtl="0" algn="l">
              <a:spcBef>
                <a:spcPts val="0"/>
              </a:spcBef>
              <a:spcAft>
                <a:spcPts val="0"/>
              </a:spcAft>
              <a:buNone/>
            </a:pPr>
            <a:r>
              <a:rPr lang="es" sz="1000">
                <a:solidFill>
                  <a:srgbClr val="F0F6FC"/>
                </a:solidFill>
                <a:highlight>
                  <a:srgbClr val="151B23"/>
                </a:highlight>
                <a:latin typeface="Courier New"/>
                <a:ea typeface="Courier New"/>
                <a:cs typeface="Courier New"/>
                <a:sym typeface="Courier New"/>
              </a:rPr>
              <a:t>    --worker-boot-disk-size 100 \</a:t>
            </a:r>
            <a:endParaRPr sz="1000">
              <a:solidFill>
                <a:srgbClr val="F0F6FC"/>
              </a:solidFill>
              <a:highlight>
                <a:srgbClr val="151B23"/>
              </a:highlight>
              <a:latin typeface="Courier New"/>
              <a:ea typeface="Courier New"/>
              <a:cs typeface="Courier New"/>
              <a:sym typeface="Courier New"/>
            </a:endParaRPr>
          </a:p>
          <a:p>
            <a:pPr indent="0" lvl="0" marL="0" rtl="0" algn="l">
              <a:spcBef>
                <a:spcPts val="0"/>
              </a:spcBef>
              <a:spcAft>
                <a:spcPts val="0"/>
              </a:spcAft>
              <a:buNone/>
            </a:pPr>
            <a:r>
              <a:rPr lang="es" sz="1000">
                <a:solidFill>
                  <a:srgbClr val="F0F6FC"/>
                </a:solidFill>
                <a:highlight>
                  <a:srgbClr val="151B23"/>
                </a:highlight>
                <a:latin typeface="Courier New"/>
                <a:ea typeface="Courier New"/>
                <a:cs typeface="Courier New"/>
                <a:sym typeface="Courier New"/>
              </a:rPr>
              <a:t>    --optional-components JUPYTER,ZEPPELIN \</a:t>
            </a:r>
            <a:endParaRPr sz="1000">
              <a:solidFill>
                <a:srgbClr val="F0F6FC"/>
              </a:solidFill>
              <a:highlight>
                <a:srgbClr val="151B23"/>
              </a:highlight>
              <a:latin typeface="Courier New"/>
              <a:ea typeface="Courier New"/>
              <a:cs typeface="Courier New"/>
              <a:sym typeface="Courier New"/>
            </a:endParaRPr>
          </a:p>
          <a:p>
            <a:pPr indent="0" lvl="0" marL="0" rtl="0" algn="l">
              <a:spcBef>
                <a:spcPts val="0"/>
              </a:spcBef>
              <a:spcAft>
                <a:spcPts val="0"/>
              </a:spcAft>
              <a:buNone/>
            </a:pPr>
            <a:r>
              <a:rPr lang="es" sz="1000">
                <a:solidFill>
                  <a:srgbClr val="F0F6FC"/>
                </a:solidFill>
                <a:highlight>
                  <a:srgbClr val="151B23"/>
                </a:highlight>
                <a:latin typeface="Courier New"/>
                <a:ea typeface="Courier New"/>
                <a:cs typeface="Courier New"/>
                <a:sym typeface="Courier New"/>
              </a:rPr>
              <a:t>    --enable-component-gateway \</a:t>
            </a:r>
            <a:endParaRPr sz="1000">
              <a:solidFill>
                <a:srgbClr val="F0F6FC"/>
              </a:solidFill>
              <a:highlight>
                <a:srgbClr val="151B23"/>
              </a:highlight>
              <a:latin typeface="Courier New"/>
              <a:ea typeface="Courier New"/>
              <a:cs typeface="Courier New"/>
              <a:sym typeface="Courier New"/>
            </a:endParaRPr>
          </a:p>
          <a:p>
            <a:pPr indent="0" lvl="0" marL="152400" marR="152400" rtl="0" algn="l">
              <a:lnSpc>
                <a:spcPct val="145000"/>
              </a:lnSpc>
              <a:spcBef>
                <a:spcPts val="0"/>
              </a:spcBef>
              <a:spcAft>
                <a:spcPts val="0"/>
              </a:spcAft>
              <a:buNone/>
            </a:pPr>
            <a:r>
              <a:rPr lang="es" sz="1000">
                <a:solidFill>
                  <a:srgbClr val="F0F6FC"/>
                </a:solidFill>
                <a:highlight>
                  <a:srgbClr val="151B23"/>
                </a:highlight>
                <a:latin typeface="Courier New"/>
                <a:ea typeface="Courier New"/>
                <a:cs typeface="Courier New"/>
                <a:sym typeface="Courier New"/>
              </a:rPr>
              <a:t>    --scopes</a:t>
            </a:r>
            <a:r>
              <a:rPr lang="es" sz="1000">
                <a:solidFill>
                  <a:srgbClr val="F0F6FC"/>
                </a:solidFill>
                <a:highlight>
                  <a:srgbClr val="151B23"/>
                </a:highlight>
                <a:latin typeface="Courier New"/>
                <a:ea typeface="Courier New"/>
                <a:cs typeface="Courier New"/>
                <a:sym typeface="Courier New"/>
              </a:rPr>
              <a:t> </a:t>
            </a:r>
            <a:r>
              <a:rPr lang="es" sz="1000">
                <a:solidFill>
                  <a:srgbClr val="A5D6FF"/>
                </a:solidFill>
                <a:highlight>
                  <a:srgbClr val="151B23"/>
                </a:highlight>
                <a:latin typeface="Courier New"/>
                <a:ea typeface="Courier New"/>
                <a:cs typeface="Courier New"/>
                <a:sym typeface="Courier New"/>
              </a:rPr>
              <a:t>'https://www.googleapis.com/auth/cloud-platform'</a:t>
            </a:r>
            <a:endParaRPr sz="1000">
              <a:solidFill>
                <a:srgbClr val="A5D6FF"/>
              </a:solidFill>
              <a:highlight>
                <a:srgbClr val="151B23"/>
              </a:highlight>
              <a:latin typeface="Courier New"/>
              <a:ea typeface="Courier New"/>
              <a:cs typeface="Courier New"/>
              <a:sym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4" name="Google Shape;114;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5" name="Google Shape;115;p24"/>
          <p:cNvPicPr preferRelativeResize="0"/>
          <p:nvPr/>
        </p:nvPicPr>
        <p:blipFill>
          <a:blip r:embed="rId3">
            <a:alphaModFix/>
          </a:blip>
          <a:stretch>
            <a:fillRect/>
          </a:stretch>
        </p:blipFill>
        <p:spPr>
          <a:xfrm>
            <a:off x="0" y="738536"/>
            <a:ext cx="9144000" cy="376192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5"/>
          <p:cNvSpPr txBox="1"/>
          <p:nvPr>
            <p:ph idx="1" type="body"/>
          </p:nvPr>
        </p:nvSpPr>
        <p:spPr>
          <a:xfrm>
            <a:off x="311675" y="217500"/>
            <a:ext cx="3024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Tardará unos minutos. Cuando esté listo, entremos al NameNode de nuestro clúster a través de SSH</a:t>
            </a:r>
            <a:endParaRPr/>
          </a:p>
        </p:txBody>
      </p:sp>
      <p:pic>
        <p:nvPicPr>
          <p:cNvPr id="121" name="Google Shape;121;p25"/>
          <p:cNvPicPr preferRelativeResize="0"/>
          <p:nvPr/>
        </p:nvPicPr>
        <p:blipFill>
          <a:blip r:embed="rId3">
            <a:alphaModFix/>
          </a:blip>
          <a:stretch>
            <a:fillRect/>
          </a:stretch>
        </p:blipFill>
        <p:spPr>
          <a:xfrm>
            <a:off x="1150250" y="1499388"/>
            <a:ext cx="2390775" cy="2314575"/>
          </a:xfrm>
          <a:prstGeom prst="rect">
            <a:avLst/>
          </a:prstGeom>
          <a:noFill/>
          <a:ln>
            <a:noFill/>
          </a:ln>
        </p:spPr>
      </p:pic>
      <p:pic>
        <p:nvPicPr>
          <p:cNvPr id="122" name="Google Shape;122;p25"/>
          <p:cNvPicPr preferRelativeResize="0"/>
          <p:nvPr/>
        </p:nvPicPr>
        <p:blipFill>
          <a:blip r:embed="rId4">
            <a:alphaModFix/>
          </a:blip>
          <a:stretch>
            <a:fillRect/>
          </a:stretch>
        </p:blipFill>
        <p:spPr>
          <a:xfrm>
            <a:off x="4396838" y="396500"/>
            <a:ext cx="3838575" cy="2362200"/>
          </a:xfrm>
          <a:prstGeom prst="rect">
            <a:avLst/>
          </a:prstGeom>
          <a:noFill/>
          <a:ln>
            <a:noFill/>
          </a:ln>
        </p:spPr>
      </p:pic>
      <p:pic>
        <p:nvPicPr>
          <p:cNvPr id="123" name="Google Shape;123;p25"/>
          <p:cNvPicPr preferRelativeResize="0"/>
          <p:nvPr/>
        </p:nvPicPr>
        <p:blipFill>
          <a:blip r:embed="rId5">
            <a:alphaModFix/>
          </a:blip>
          <a:stretch>
            <a:fillRect/>
          </a:stretch>
        </p:blipFill>
        <p:spPr>
          <a:xfrm>
            <a:off x="0" y="3813972"/>
            <a:ext cx="9144000" cy="1302106"/>
          </a:xfrm>
          <a:prstGeom prst="rect">
            <a:avLst/>
          </a:prstGeom>
          <a:noFill/>
          <a:ln>
            <a:noFill/>
          </a:ln>
        </p:spPr>
      </p:pic>
      <p:cxnSp>
        <p:nvCxnSpPr>
          <p:cNvPr id="124" name="Google Shape;124;p25"/>
          <p:cNvCxnSpPr/>
          <p:nvPr/>
        </p:nvCxnSpPr>
        <p:spPr>
          <a:xfrm flipH="1" rot="10800000">
            <a:off x="2109950" y="2054375"/>
            <a:ext cx="2739000" cy="995100"/>
          </a:xfrm>
          <a:prstGeom prst="straightConnector1">
            <a:avLst/>
          </a:prstGeom>
          <a:noFill/>
          <a:ln cap="flat" cmpd="sng" w="9525">
            <a:solidFill>
              <a:srgbClr val="FF0000"/>
            </a:solidFill>
            <a:prstDash val="solid"/>
            <a:round/>
            <a:headEnd len="med" w="med" type="none"/>
            <a:tailEnd len="med" w="med" type="triangle"/>
          </a:ln>
        </p:spPr>
      </p:cxnSp>
      <p:cxnSp>
        <p:nvCxnSpPr>
          <p:cNvPr id="125" name="Google Shape;125;p25"/>
          <p:cNvCxnSpPr/>
          <p:nvPr/>
        </p:nvCxnSpPr>
        <p:spPr>
          <a:xfrm flipH="1">
            <a:off x="3168800" y="2348800"/>
            <a:ext cx="2014500" cy="1504800"/>
          </a:xfrm>
          <a:prstGeom prst="straightConnector1">
            <a:avLst/>
          </a:prstGeom>
          <a:noFill/>
          <a:ln cap="flat" cmpd="sng" w="9525">
            <a:solidFill>
              <a:srgbClr val="FF0000"/>
            </a:solidFill>
            <a:prstDash val="solid"/>
            <a:round/>
            <a:headEnd len="med" w="med" type="none"/>
            <a:tailEnd len="med" w="med" type="triangle"/>
          </a:ln>
        </p:spPr>
      </p:cxnSp>
      <p:cxnSp>
        <p:nvCxnSpPr>
          <p:cNvPr id="126" name="Google Shape;126;p25"/>
          <p:cNvCxnSpPr/>
          <p:nvPr/>
        </p:nvCxnSpPr>
        <p:spPr>
          <a:xfrm>
            <a:off x="3224650" y="4116400"/>
            <a:ext cx="5223000" cy="636900"/>
          </a:xfrm>
          <a:prstGeom prst="straightConnector1">
            <a:avLst/>
          </a:prstGeom>
          <a:noFill/>
          <a:ln cap="flat" cmpd="sng" w="9525">
            <a:solidFill>
              <a:srgbClr val="FF0000"/>
            </a:solidFill>
            <a:prstDash val="solid"/>
            <a:round/>
            <a:headEnd len="med" w="med" type="none"/>
            <a:tailEnd len="med" w="med" type="triangle"/>
          </a:ln>
        </p:spPr>
      </p:cxnSp>
      <p:sp>
        <p:nvSpPr>
          <p:cNvPr id="127" name="Google Shape;127;p25"/>
          <p:cNvSpPr/>
          <p:nvPr/>
        </p:nvSpPr>
        <p:spPr>
          <a:xfrm>
            <a:off x="8519425" y="4546350"/>
            <a:ext cx="525600" cy="5175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Entramos a hive</a:t>
            </a:r>
            <a:endParaRPr/>
          </a:p>
        </p:txBody>
      </p:sp>
      <p:sp>
        <p:nvSpPr>
          <p:cNvPr id="133" name="Google Shape;133;p26"/>
          <p:cNvSpPr txBox="1"/>
          <p:nvPr>
            <p:ph idx="1" type="body"/>
          </p:nvPr>
        </p:nvSpPr>
        <p:spPr>
          <a:xfrm>
            <a:off x="311700" y="1152475"/>
            <a:ext cx="1941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sólo escribimos en la terminal, "hive"</a:t>
            </a:r>
            <a:endParaRPr/>
          </a:p>
        </p:txBody>
      </p:sp>
      <p:pic>
        <p:nvPicPr>
          <p:cNvPr id="134" name="Google Shape;134;p26"/>
          <p:cNvPicPr preferRelativeResize="0"/>
          <p:nvPr/>
        </p:nvPicPr>
        <p:blipFill>
          <a:blip r:embed="rId3">
            <a:alphaModFix/>
          </a:blip>
          <a:stretch>
            <a:fillRect/>
          </a:stretch>
        </p:blipFill>
        <p:spPr>
          <a:xfrm>
            <a:off x="2364722" y="979350"/>
            <a:ext cx="6188800" cy="38428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Creando tablas</a:t>
            </a:r>
            <a:endParaRPr/>
          </a:p>
        </p:txBody>
      </p:sp>
      <p:sp>
        <p:nvSpPr>
          <p:cNvPr id="140" name="Google Shape;140;p27"/>
          <p:cNvSpPr txBox="1"/>
          <p:nvPr/>
        </p:nvSpPr>
        <p:spPr>
          <a:xfrm>
            <a:off x="629025" y="1146550"/>
            <a:ext cx="7508100" cy="364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00">
                <a:solidFill>
                  <a:schemeClr val="dk1"/>
                </a:solidFill>
                <a:latin typeface="Courier New"/>
                <a:ea typeface="Courier New"/>
                <a:cs typeface="Courier New"/>
                <a:sym typeface="Courier New"/>
              </a:rPr>
              <a:t>CREATE [EXTERNAL] TABLE [IF NOT EXISTS] nombre_tabla (</a:t>
            </a:r>
            <a:endParaRPr sz="15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s" sz="1500">
                <a:solidFill>
                  <a:schemeClr val="dk1"/>
                </a:solidFill>
                <a:latin typeface="Courier New"/>
                <a:ea typeface="Courier New"/>
                <a:cs typeface="Courier New"/>
                <a:sym typeface="Courier New"/>
              </a:rPr>
              <a:t>    columna1 tipo_dato [COMMENT</a:t>
            </a:r>
            <a:r>
              <a:rPr lang="es" sz="1500">
                <a:solidFill>
                  <a:srgbClr val="F0F6FC"/>
                </a:solidFill>
                <a:latin typeface="Courier New"/>
                <a:ea typeface="Courier New"/>
                <a:cs typeface="Courier New"/>
                <a:sym typeface="Courier New"/>
              </a:rPr>
              <a:t> </a:t>
            </a:r>
            <a:r>
              <a:rPr lang="es" sz="1500">
                <a:solidFill>
                  <a:srgbClr val="FF0000"/>
                </a:solidFill>
                <a:latin typeface="Courier New"/>
                <a:ea typeface="Courier New"/>
                <a:cs typeface="Courier New"/>
                <a:sym typeface="Courier New"/>
              </a:rPr>
              <a:t>'comentario'</a:t>
            </a:r>
            <a:r>
              <a:rPr lang="es" sz="1500">
                <a:solidFill>
                  <a:schemeClr val="dk1"/>
                </a:solidFill>
                <a:latin typeface="Courier New"/>
                <a:ea typeface="Courier New"/>
                <a:cs typeface="Courier New"/>
                <a:sym typeface="Courier New"/>
              </a:rPr>
              <a:t>],</a:t>
            </a:r>
            <a:endParaRPr sz="15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s" sz="1500">
                <a:solidFill>
                  <a:srgbClr val="F0F6FC"/>
                </a:solidFill>
                <a:latin typeface="Courier New"/>
                <a:ea typeface="Courier New"/>
                <a:cs typeface="Courier New"/>
                <a:sym typeface="Courier New"/>
              </a:rPr>
              <a:t>    </a:t>
            </a:r>
            <a:r>
              <a:rPr lang="es" sz="1500">
                <a:solidFill>
                  <a:schemeClr val="dk1"/>
                </a:solidFill>
                <a:latin typeface="Courier New"/>
                <a:ea typeface="Courier New"/>
                <a:cs typeface="Courier New"/>
                <a:sym typeface="Courier New"/>
              </a:rPr>
              <a:t>columna2 tipo_dato,</a:t>
            </a:r>
            <a:endParaRPr sz="15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s" sz="1500">
                <a:solidFill>
                  <a:schemeClr val="dk1"/>
                </a:solidFill>
                <a:latin typeface="Courier New"/>
                <a:ea typeface="Courier New"/>
                <a:cs typeface="Courier New"/>
                <a:sym typeface="Courier New"/>
              </a:rPr>
              <a:t>    ...</a:t>
            </a:r>
            <a:endParaRPr sz="15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s" sz="1500">
                <a:solidFill>
                  <a:schemeClr val="dk1"/>
                </a:solidFill>
                <a:latin typeface="Courier New"/>
                <a:ea typeface="Courier New"/>
                <a:cs typeface="Courier New"/>
                <a:sym typeface="Courier New"/>
              </a:rPr>
              <a:t>)</a:t>
            </a:r>
            <a:endParaRPr sz="15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s" sz="1500">
                <a:solidFill>
                  <a:schemeClr val="dk1"/>
                </a:solidFill>
                <a:latin typeface="Courier New"/>
                <a:ea typeface="Courier New"/>
                <a:cs typeface="Courier New"/>
                <a:sym typeface="Courier New"/>
              </a:rPr>
              <a:t>[COMMENT </a:t>
            </a:r>
            <a:r>
              <a:rPr lang="es" sz="1500">
                <a:solidFill>
                  <a:srgbClr val="FF0000"/>
                </a:solidFill>
                <a:latin typeface="Courier New"/>
                <a:ea typeface="Courier New"/>
                <a:cs typeface="Courier New"/>
                <a:sym typeface="Courier New"/>
              </a:rPr>
              <a:t>'Descripción de la tabla'</a:t>
            </a:r>
            <a:r>
              <a:rPr lang="es" sz="1500">
                <a:latin typeface="Courier New"/>
                <a:ea typeface="Courier New"/>
                <a:cs typeface="Courier New"/>
                <a:sym typeface="Courier New"/>
              </a:rPr>
              <a:t>]</a:t>
            </a:r>
            <a:endParaRPr sz="1500">
              <a:latin typeface="Courier New"/>
              <a:ea typeface="Courier New"/>
              <a:cs typeface="Courier New"/>
              <a:sym typeface="Courier New"/>
            </a:endParaRPr>
          </a:p>
          <a:p>
            <a:pPr indent="0" lvl="0" marL="0" rtl="0" algn="l">
              <a:spcBef>
                <a:spcPts val="0"/>
              </a:spcBef>
              <a:spcAft>
                <a:spcPts val="0"/>
              </a:spcAft>
              <a:buNone/>
            </a:pPr>
            <a:r>
              <a:rPr lang="es" sz="1500">
                <a:latin typeface="Courier New"/>
                <a:ea typeface="Courier New"/>
                <a:cs typeface="Courier New"/>
                <a:sym typeface="Courier New"/>
              </a:rPr>
              <a:t>[PARTITIONED BY (columna_particion tipo_dato, ...)]</a:t>
            </a:r>
            <a:endParaRPr sz="1500">
              <a:latin typeface="Courier New"/>
              <a:ea typeface="Courier New"/>
              <a:cs typeface="Courier New"/>
              <a:sym typeface="Courier New"/>
            </a:endParaRPr>
          </a:p>
          <a:p>
            <a:pPr indent="0" lvl="0" marL="0" rtl="0" algn="l">
              <a:spcBef>
                <a:spcPts val="0"/>
              </a:spcBef>
              <a:spcAft>
                <a:spcPts val="0"/>
              </a:spcAft>
              <a:buNone/>
            </a:pPr>
            <a:r>
              <a:rPr lang="es" sz="1500">
                <a:latin typeface="Courier New"/>
                <a:ea typeface="Courier New"/>
                <a:cs typeface="Courier New"/>
                <a:sym typeface="Courier New"/>
              </a:rPr>
              <a:t>[CLUSTERED BY (columna_bucket) [SORTED BY (columna_orden</a:t>
            </a:r>
            <a:r>
              <a:rPr lang="es" sz="1500">
                <a:solidFill>
                  <a:srgbClr val="F0F6FC"/>
                </a:solidFill>
                <a:latin typeface="Courier New"/>
                <a:ea typeface="Courier New"/>
                <a:cs typeface="Courier New"/>
                <a:sym typeface="Courier New"/>
              </a:rPr>
              <a:t> </a:t>
            </a:r>
            <a:r>
              <a:rPr lang="es" sz="1500">
                <a:solidFill>
                  <a:srgbClr val="FF7B72"/>
                </a:solidFill>
                <a:latin typeface="Courier New"/>
                <a:ea typeface="Courier New"/>
                <a:cs typeface="Courier New"/>
                <a:sym typeface="Courier New"/>
              </a:rPr>
              <a:t>ASC</a:t>
            </a:r>
            <a:r>
              <a:rPr lang="es" sz="1500">
                <a:solidFill>
                  <a:srgbClr val="F0F6FC"/>
                </a:solidFill>
                <a:latin typeface="Courier New"/>
                <a:ea typeface="Courier New"/>
                <a:cs typeface="Courier New"/>
                <a:sym typeface="Courier New"/>
              </a:rPr>
              <a:t>|</a:t>
            </a:r>
            <a:r>
              <a:rPr lang="es" sz="1500">
                <a:solidFill>
                  <a:srgbClr val="FF7B72"/>
                </a:solidFill>
                <a:latin typeface="Courier New"/>
                <a:ea typeface="Courier New"/>
                <a:cs typeface="Courier New"/>
                <a:sym typeface="Courier New"/>
              </a:rPr>
              <a:t>DESC</a:t>
            </a:r>
            <a:r>
              <a:rPr lang="es" sz="1500">
                <a:solidFill>
                  <a:schemeClr val="dk1"/>
                </a:solidFill>
                <a:latin typeface="Courier New"/>
                <a:ea typeface="Courier New"/>
                <a:cs typeface="Courier New"/>
                <a:sym typeface="Courier New"/>
              </a:rPr>
              <a:t>)] INTO num_buckets BUCKETS]</a:t>
            </a:r>
            <a:endParaRPr sz="15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s" sz="1500">
                <a:solidFill>
                  <a:schemeClr val="dk1"/>
                </a:solidFill>
                <a:latin typeface="Courier New"/>
                <a:ea typeface="Courier New"/>
                <a:cs typeface="Courier New"/>
                <a:sym typeface="Courier New"/>
              </a:rPr>
              <a:t>[ROW FORMAT DELIMITED | SERDE</a:t>
            </a:r>
            <a:r>
              <a:rPr lang="es" sz="1500">
                <a:solidFill>
                  <a:srgbClr val="F0F6FC"/>
                </a:solidFill>
                <a:latin typeface="Courier New"/>
                <a:ea typeface="Courier New"/>
                <a:cs typeface="Courier New"/>
                <a:sym typeface="Courier New"/>
              </a:rPr>
              <a:t> </a:t>
            </a:r>
            <a:r>
              <a:rPr lang="es" sz="1500">
                <a:solidFill>
                  <a:srgbClr val="FF0000"/>
                </a:solidFill>
                <a:latin typeface="Courier New"/>
                <a:ea typeface="Courier New"/>
                <a:cs typeface="Courier New"/>
                <a:sym typeface="Courier New"/>
              </a:rPr>
              <a:t>'clase_serde'</a:t>
            </a:r>
            <a:r>
              <a:rPr lang="es" sz="1500">
                <a:solidFill>
                  <a:schemeClr val="dk1"/>
                </a:solidFill>
                <a:latin typeface="Courier New"/>
                <a:ea typeface="Courier New"/>
                <a:cs typeface="Courier New"/>
                <a:sym typeface="Courier New"/>
              </a:rPr>
              <a:t>]</a:t>
            </a:r>
            <a:endParaRPr sz="15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s" sz="1500">
                <a:solidFill>
                  <a:schemeClr val="dk1"/>
                </a:solidFill>
                <a:latin typeface="Courier New"/>
                <a:ea typeface="Courier New"/>
                <a:cs typeface="Courier New"/>
                <a:sym typeface="Courier New"/>
              </a:rPr>
              <a:t>    [FIELDS TERMINATED BY </a:t>
            </a:r>
            <a:r>
              <a:rPr lang="es" sz="1500">
                <a:solidFill>
                  <a:srgbClr val="FF0000"/>
                </a:solidFill>
                <a:latin typeface="Courier New"/>
                <a:ea typeface="Courier New"/>
                <a:cs typeface="Courier New"/>
                <a:sym typeface="Courier New"/>
              </a:rPr>
              <a:t>'char'</a:t>
            </a:r>
            <a:r>
              <a:rPr lang="es" sz="1500">
                <a:latin typeface="Courier New"/>
                <a:ea typeface="Courier New"/>
                <a:cs typeface="Courier New"/>
                <a:sym typeface="Courier New"/>
              </a:rPr>
              <a:t>]</a:t>
            </a:r>
            <a:endParaRPr sz="1500">
              <a:latin typeface="Courier New"/>
              <a:ea typeface="Courier New"/>
              <a:cs typeface="Courier New"/>
              <a:sym typeface="Courier New"/>
            </a:endParaRPr>
          </a:p>
          <a:p>
            <a:pPr indent="0" lvl="0" marL="0" rtl="0" algn="l">
              <a:spcBef>
                <a:spcPts val="0"/>
              </a:spcBef>
              <a:spcAft>
                <a:spcPts val="0"/>
              </a:spcAft>
              <a:buNone/>
            </a:pPr>
            <a:r>
              <a:rPr lang="es" sz="1500">
                <a:latin typeface="Courier New"/>
                <a:ea typeface="Courier New"/>
                <a:cs typeface="Courier New"/>
                <a:sym typeface="Courier New"/>
              </a:rPr>
              <a:t>    [LINES TERMINATED BY </a:t>
            </a:r>
            <a:r>
              <a:rPr lang="es" sz="1500">
                <a:solidFill>
                  <a:srgbClr val="FF0000"/>
                </a:solidFill>
                <a:latin typeface="Courier New"/>
                <a:ea typeface="Courier New"/>
                <a:cs typeface="Courier New"/>
                <a:sym typeface="Courier New"/>
              </a:rPr>
              <a:t>'char'</a:t>
            </a:r>
            <a:r>
              <a:rPr lang="es" sz="1500">
                <a:solidFill>
                  <a:schemeClr val="dk1"/>
                </a:solidFill>
                <a:latin typeface="Courier New"/>
                <a:ea typeface="Courier New"/>
                <a:cs typeface="Courier New"/>
                <a:sym typeface="Courier New"/>
              </a:rPr>
              <a:t>]</a:t>
            </a:r>
            <a:endParaRPr sz="15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s" sz="1500">
                <a:solidFill>
                  <a:schemeClr val="dk1"/>
                </a:solidFill>
                <a:latin typeface="Courier New"/>
                <a:ea typeface="Courier New"/>
                <a:cs typeface="Courier New"/>
                <a:sym typeface="Courier New"/>
              </a:rPr>
              <a:t>[STORED</a:t>
            </a:r>
            <a:r>
              <a:rPr lang="es" sz="1500">
                <a:solidFill>
                  <a:srgbClr val="F0F6FC"/>
                </a:solidFill>
                <a:latin typeface="Courier New"/>
                <a:ea typeface="Courier New"/>
                <a:cs typeface="Courier New"/>
                <a:sym typeface="Courier New"/>
              </a:rPr>
              <a:t> </a:t>
            </a:r>
            <a:r>
              <a:rPr lang="es" sz="1500">
                <a:solidFill>
                  <a:srgbClr val="FF7B72"/>
                </a:solidFill>
                <a:latin typeface="Courier New"/>
                <a:ea typeface="Courier New"/>
                <a:cs typeface="Courier New"/>
                <a:sym typeface="Courier New"/>
              </a:rPr>
              <a:t>AS</a:t>
            </a:r>
            <a:r>
              <a:rPr lang="es" sz="1500">
                <a:solidFill>
                  <a:srgbClr val="F0F6FC"/>
                </a:solidFill>
                <a:latin typeface="Courier New"/>
                <a:ea typeface="Courier New"/>
                <a:cs typeface="Courier New"/>
                <a:sym typeface="Courier New"/>
              </a:rPr>
              <a:t> </a:t>
            </a:r>
            <a:r>
              <a:rPr lang="es" sz="1500">
                <a:solidFill>
                  <a:schemeClr val="dk1"/>
                </a:solidFill>
                <a:latin typeface="Courier New"/>
                <a:ea typeface="Courier New"/>
                <a:cs typeface="Courier New"/>
                <a:sym typeface="Courier New"/>
              </a:rPr>
              <a:t>formato_archivo]</a:t>
            </a:r>
            <a:endParaRPr sz="15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s" sz="1500">
                <a:solidFill>
                  <a:schemeClr val="dk1"/>
                </a:solidFill>
                <a:latin typeface="Courier New"/>
                <a:ea typeface="Courier New"/>
                <a:cs typeface="Courier New"/>
                <a:sym typeface="Courier New"/>
              </a:rPr>
              <a:t>[LOCATION </a:t>
            </a:r>
            <a:r>
              <a:rPr lang="es" sz="1500">
                <a:solidFill>
                  <a:srgbClr val="FF0000"/>
                </a:solidFill>
                <a:latin typeface="Courier New"/>
                <a:ea typeface="Courier New"/>
                <a:cs typeface="Courier New"/>
                <a:sym typeface="Courier New"/>
              </a:rPr>
              <a:t>'gs://bucket/ruta/' </a:t>
            </a:r>
            <a:r>
              <a:rPr lang="es" sz="1500">
                <a:solidFill>
                  <a:schemeClr val="dk1"/>
                </a:solidFill>
                <a:latin typeface="Courier New"/>
                <a:ea typeface="Courier New"/>
                <a:cs typeface="Courier New"/>
                <a:sym typeface="Courier New"/>
              </a:rPr>
              <a:t>|</a:t>
            </a:r>
            <a:r>
              <a:rPr lang="es" sz="1500">
                <a:solidFill>
                  <a:srgbClr val="F0F6FC"/>
                </a:solidFill>
                <a:latin typeface="Courier New"/>
                <a:ea typeface="Courier New"/>
                <a:cs typeface="Courier New"/>
                <a:sym typeface="Courier New"/>
              </a:rPr>
              <a:t> </a:t>
            </a:r>
            <a:r>
              <a:rPr lang="es" sz="1500">
                <a:solidFill>
                  <a:srgbClr val="FF0000"/>
                </a:solidFill>
                <a:latin typeface="Courier New"/>
                <a:ea typeface="Courier New"/>
                <a:cs typeface="Courier New"/>
                <a:sym typeface="Courier New"/>
              </a:rPr>
              <a:t>'/user/hdfs/ruta/'</a:t>
            </a:r>
            <a:r>
              <a:rPr lang="es" sz="1500">
                <a:solidFill>
                  <a:schemeClr val="dk1"/>
                </a:solidFill>
                <a:latin typeface="Courier New"/>
                <a:ea typeface="Courier New"/>
                <a:cs typeface="Courier New"/>
                <a:sym typeface="Courier New"/>
              </a:rPr>
              <a:t>]</a:t>
            </a:r>
            <a:endParaRPr sz="1500">
              <a:solidFill>
                <a:schemeClr val="dk1"/>
              </a:solidFill>
              <a:latin typeface="Courier New"/>
              <a:ea typeface="Courier New"/>
              <a:cs typeface="Courier New"/>
              <a:sym typeface="Courier New"/>
            </a:endParaRPr>
          </a:p>
          <a:p>
            <a:pPr indent="0" lvl="0" marL="152400" marR="152400" rtl="0" algn="l">
              <a:lnSpc>
                <a:spcPct val="145000"/>
              </a:lnSpc>
              <a:spcBef>
                <a:spcPts val="0"/>
              </a:spcBef>
              <a:spcAft>
                <a:spcPts val="0"/>
              </a:spcAft>
              <a:buNone/>
            </a:pPr>
            <a:r>
              <a:rPr lang="es" sz="1500">
                <a:solidFill>
                  <a:schemeClr val="dk1"/>
                </a:solidFill>
                <a:latin typeface="Courier New"/>
                <a:ea typeface="Courier New"/>
                <a:cs typeface="Courier New"/>
                <a:sym typeface="Courier New"/>
              </a:rPr>
              <a:t>[TBLPROPERTIES (</a:t>
            </a:r>
            <a:r>
              <a:rPr lang="es" sz="1500">
                <a:solidFill>
                  <a:srgbClr val="FF0000"/>
                </a:solidFill>
                <a:latin typeface="Courier New"/>
                <a:ea typeface="Courier New"/>
                <a:cs typeface="Courier New"/>
                <a:sym typeface="Courier New"/>
              </a:rPr>
              <a:t>'propiedad'</a:t>
            </a:r>
            <a:r>
              <a:rPr lang="es" sz="1500">
                <a:solidFill>
                  <a:srgbClr val="FF7B72"/>
                </a:solidFill>
                <a:latin typeface="Courier New"/>
                <a:ea typeface="Courier New"/>
                <a:cs typeface="Courier New"/>
                <a:sym typeface="Courier New"/>
              </a:rPr>
              <a:t>=</a:t>
            </a:r>
            <a:r>
              <a:rPr lang="es" sz="1500">
                <a:solidFill>
                  <a:srgbClr val="FF0000"/>
                </a:solidFill>
                <a:latin typeface="Courier New"/>
                <a:ea typeface="Courier New"/>
                <a:cs typeface="Courier New"/>
                <a:sym typeface="Courier New"/>
              </a:rPr>
              <a:t>'valor'</a:t>
            </a:r>
            <a:r>
              <a:rPr lang="es" sz="1500">
                <a:solidFill>
                  <a:schemeClr val="dk1"/>
                </a:solidFill>
                <a:latin typeface="Courier New"/>
                <a:ea typeface="Courier New"/>
                <a:cs typeface="Courier New"/>
                <a:sym typeface="Courier New"/>
              </a:rPr>
              <a:t>)];</a:t>
            </a:r>
            <a:endParaRPr sz="1500">
              <a:solidFill>
                <a:schemeClr val="dk1"/>
              </a:solidFill>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Conceptos</a:t>
            </a:r>
            <a:endParaRPr/>
          </a:p>
        </p:txBody>
      </p:sp>
      <p:sp>
        <p:nvSpPr>
          <p:cNvPr id="146" name="Google Shape;146;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b="1" lang="es" sz="1120">
                <a:solidFill>
                  <a:srgbClr val="000000"/>
                </a:solidFill>
              </a:rPr>
              <a:t>EXTERNAL</a:t>
            </a:r>
            <a:r>
              <a:rPr lang="es" sz="1120">
                <a:solidFill>
                  <a:srgbClr val="000000"/>
                </a:solidFill>
              </a:rPr>
              <a:t>: Es la mejor práctica en Big Data. Hive solo gestiona los metadatos. Si ejecutas un </a:t>
            </a:r>
            <a:r>
              <a:rPr b="1" lang="es" sz="1120">
                <a:solidFill>
                  <a:srgbClr val="000000"/>
                </a:solidFill>
              </a:rPr>
              <a:t>DROP TABLE,</a:t>
            </a:r>
            <a:r>
              <a:rPr lang="es" sz="1120">
                <a:solidFill>
                  <a:srgbClr val="000000"/>
                </a:solidFill>
              </a:rPr>
              <a:t> los datos en el bucket </a:t>
            </a:r>
            <a:r>
              <a:rPr b="1" lang="es" sz="1120">
                <a:solidFill>
                  <a:srgbClr val="000000"/>
                </a:solidFill>
              </a:rPr>
              <a:t>NO </a:t>
            </a:r>
            <a:r>
              <a:rPr lang="es" sz="1120">
                <a:solidFill>
                  <a:srgbClr val="000000"/>
                </a:solidFill>
              </a:rPr>
              <a:t>se borran.</a:t>
            </a:r>
            <a:endParaRPr sz="1120">
              <a:solidFill>
                <a:srgbClr val="000000"/>
              </a:solidFill>
            </a:endParaRPr>
          </a:p>
          <a:p>
            <a:pPr indent="0" lvl="0" marL="0" rtl="0" algn="l">
              <a:lnSpc>
                <a:spcPct val="95000"/>
              </a:lnSpc>
              <a:spcBef>
                <a:spcPts val="1200"/>
              </a:spcBef>
              <a:spcAft>
                <a:spcPts val="0"/>
              </a:spcAft>
              <a:buSzPts val="935"/>
              <a:buNone/>
            </a:pPr>
            <a:r>
              <a:rPr b="1" lang="es" sz="1120">
                <a:solidFill>
                  <a:srgbClr val="000000"/>
                </a:solidFill>
              </a:rPr>
              <a:t>MANAGED</a:t>
            </a:r>
            <a:r>
              <a:rPr lang="es" sz="1120">
                <a:solidFill>
                  <a:srgbClr val="000000"/>
                </a:solidFill>
              </a:rPr>
              <a:t>: Hive es dueño de los datos. Si borras la tabla, los archivos físicos desaparecen.</a:t>
            </a:r>
            <a:endParaRPr sz="1120">
              <a:solidFill>
                <a:srgbClr val="000000"/>
              </a:solidFill>
            </a:endParaRPr>
          </a:p>
          <a:p>
            <a:pPr indent="0" lvl="0" marL="0" rtl="0" algn="l">
              <a:lnSpc>
                <a:spcPct val="95000"/>
              </a:lnSpc>
              <a:spcBef>
                <a:spcPts val="1200"/>
              </a:spcBef>
              <a:spcAft>
                <a:spcPts val="0"/>
              </a:spcAft>
              <a:buSzPts val="935"/>
              <a:buNone/>
            </a:pPr>
            <a:r>
              <a:rPr lang="es" sz="1120">
                <a:solidFill>
                  <a:srgbClr val="000000"/>
                </a:solidFill>
              </a:rPr>
              <a:t>Formatos de Almacenamiento (STORED AS) El formato impacta directamente en el costo de almacenamiento y la velocidad de procesamiento:</a:t>
            </a:r>
            <a:endParaRPr sz="1120">
              <a:solidFill>
                <a:srgbClr val="000000"/>
              </a:solidFill>
            </a:endParaRPr>
          </a:p>
          <a:p>
            <a:pPr indent="-299720" lvl="0" marL="457200" rtl="0" algn="l">
              <a:lnSpc>
                <a:spcPct val="95000"/>
              </a:lnSpc>
              <a:spcBef>
                <a:spcPts val="1200"/>
              </a:spcBef>
              <a:spcAft>
                <a:spcPts val="0"/>
              </a:spcAft>
              <a:buClr>
                <a:srgbClr val="000000"/>
              </a:buClr>
              <a:buSzPts val="1120"/>
              <a:buChar char="●"/>
            </a:pPr>
            <a:r>
              <a:rPr b="1" lang="es" sz="1120">
                <a:solidFill>
                  <a:srgbClr val="000000"/>
                </a:solidFill>
              </a:rPr>
              <a:t>TEXTFILE</a:t>
            </a:r>
            <a:r>
              <a:rPr lang="es" sz="1120">
                <a:solidFill>
                  <a:srgbClr val="000000"/>
                </a:solidFill>
              </a:rPr>
              <a:t>: Texto plano (CSV/TSV). Compatible con todo, pero pesado y lento.</a:t>
            </a:r>
            <a:endParaRPr sz="1120">
              <a:solidFill>
                <a:srgbClr val="000000"/>
              </a:solidFill>
            </a:endParaRPr>
          </a:p>
          <a:p>
            <a:pPr indent="-299720" lvl="0" marL="457200" rtl="0" algn="l">
              <a:lnSpc>
                <a:spcPct val="95000"/>
              </a:lnSpc>
              <a:spcBef>
                <a:spcPts val="0"/>
              </a:spcBef>
              <a:spcAft>
                <a:spcPts val="0"/>
              </a:spcAft>
              <a:buClr>
                <a:srgbClr val="000000"/>
              </a:buClr>
              <a:buSzPts val="1120"/>
              <a:buChar char="●"/>
            </a:pPr>
            <a:r>
              <a:rPr b="1" lang="es" sz="1120">
                <a:solidFill>
                  <a:srgbClr val="000000"/>
                </a:solidFill>
              </a:rPr>
              <a:t>PARQUET</a:t>
            </a:r>
            <a:r>
              <a:rPr lang="es" sz="1120">
                <a:solidFill>
                  <a:srgbClr val="000000"/>
                </a:solidFill>
              </a:rPr>
              <a:t>: Formato columnar. Comprime los datos y es ideal para procesos de Spark y BigQuery.</a:t>
            </a:r>
            <a:endParaRPr sz="1120">
              <a:solidFill>
                <a:srgbClr val="000000"/>
              </a:solidFill>
            </a:endParaRPr>
          </a:p>
          <a:p>
            <a:pPr indent="-299720" lvl="0" marL="457200" rtl="0" algn="l">
              <a:lnSpc>
                <a:spcPct val="95000"/>
              </a:lnSpc>
              <a:spcBef>
                <a:spcPts val="0"/>
              </a:spcBef>
              <a:spcAft>
                <a:spcPts val="0"/>
              </a:spcAft>
              <a:buClr>
                <a:srgbClr val="000000"/>
              </a:buClr>
              <a:buSzPts val="1120"/>
              <a:buChar char="●"/>
            </a:pPr>
            <a:r>
              <a:rPr b="1" lang="es" sz="1120">
                <a:solidFill>
                  <a:srgbClr val="000000"/>
                </a:solidFill>
              </a:rPr>
              <a:t>ORC</a:t>
            </a:r>
            <a:r>
              <a:rPr lang="es" sz="1120">
                <a:solidFill>
                  <a:srgbClr val="000000"/>
                </a:solidFill>
              </a:rPr>
              <a:t>(Optimized Row Columnar): El formato nativo más optimizado para Hive.</a:t>
            </a:r>
            <a:endParaRPr sz="1120">
              <a:solidFill>
                <a:srgbClr val="000000"/>
              </a:solidFill>
            </a:endParaRPr>
          </a:p>
          <a:p>
            <a:pPr indent="0" lvl="0" marL="0" rtl="0" algn="l">
              <a:spcBef>
                <a:spcPts val="1400"/>
              </a:spcBef>
              <a:spcAft>
                <a:spcPts val="0"/>
              </a:spcAft>
              <a:buNone/>
            </a:pPr>
            <a:r>
              <a:rPr b="1" lang="es" sz="1300">
                <a:solidFill>
                  <a:schemeClr val="dk1"/>
                </a:solidFill>
              </a:rPr>
              <a:t>¿Qué es un SerDe? (Serializer / Deserializer)</a:t>
            </a:r>
            <a:endParaRPr b="1" sz="1300">
              <a:solidFill>
                <a:schemeClr val="dk1"/>
              </a:solidFill>
            </a:endParaRPr>
          </a:p>
          <a:p>
            <a:pPr indent="0" lvl="0" marL="0" rtl="0" algn="l">
              <a:spcBef>
                <a:spcPts val="1200"/>
              </a:spcBef>
              <a:spcAft>
                <a:spcPts val="0"/>
              </a:spcAft>
              <a:buNone/>
            </a:pPr>
            <a:r>
              <a:rPr lang="es" sz="1100">
                <a:solidFill>
                  <a:schemeClr val="dk1"/>
                </a:solidFill>
              </a:rPr>
              <a:t>Es el </a:t>
            </a:r>
            <a:r>
              <a:rPr b="1" lang="es" sz="1100">
                <a:solidFill>
                  <a:schemeClr val="dk1"/>
                </a:solidFill>
              </a:rPr>
              <a:t>traductor</a:t>
            </a:r>
            <a:r>
              <a:rPr lang="es" sz="1100">
                <a:solidFill>
                  <a:schemeClr val="dk1"/>
                </a:solidFill>
              </a:rPr>
              <a:t> de Hive. Permite que el motor SQL interprete archivos físicos (bytes) como tablas con filas y columnas.</a:t>
            </a:r>
            <a:endParaRPr sz="1100">
              <a:solidFill>
                <a:schemeClr val="dk1"/>
              </a:solidFill>
            </a:endParaRPr>
          </a:p>
          <a:p>
            <a:pPr indent="-298450" lvl="0" marL="457200" rtl="0" algn="l">
              <a:spcBef>
                <a:spcPts val="1200"/>
              </a:spcBef>
              <a:spcAft>
                <a:spcPts val="0"/>
              </a:spcAft>
              <a:buClr>
                <a:schemeClr val="dk1"/>
              </a:buClr>
              <a:buSzPts val="1100"/>
              <a:buChar char="●"/>
            </a:pPr>
            <a:r>
              <a:rPr b="1" lang="es" sz="1100">
                <a:solidFill>
                  <a:schemeClr val="dk1"/>
                </a:solidFill>
              </a:rPr>
              <a:t>Deserialización (Lectura):</a:t>
            </a:r>
            <a:r>
              <a:rPr lang="es" sz="1100">
                <a:solidFill>
                  <a:schemeClr val="dk1"/>
                </a:solidFill>
              </a:rPr>
              <a:t> Transforma datos del almacenamiento (GCS/HDFS) en objetos de Hive para procesar el SQL.</a:t>
            </a:r>
            <a:endParaRPr sz="1100">
              <a:solidFill>
                <a:schemeClr val="dk1"/>
              </a:solidFill>
            </a:endParaRPr>
          </a:p>
          <a:p>
            <a:pPr indent="-298450" lvl="0" marL="457200" rtl="0" algn="l">
              <a:spcBef>
                <a:spcPts val="0"/>
              </a:spcBef>
              <a:spcAft>
                <a:spcPts val="0"/>
              </a:spcAft>
              <a:buClr>
                <a:schemeClr val="dk1"/>
              </a:buClr>
              <a:buSzPts val="1100"/>
              <a:buChar char="●"/>
            </a:pPr>
            <a:r>
              <a:rPr b="1" lang="es" sz="1100">
                <a:solidFill>
                  <a:schemeClr val="dk1"/>
                </a:solidFill>
              </a:rPr>
              <a:t>Serialización (Escritura):</a:t>
            </a:r>
            <a:r>
              <a:rPr lang="es" sz="1100">
                <a:solidFill>
                  <a:schemeClr val="dk1"/>
                </a:solidFill>
              </a:rPr>
              <a:t> Transforma las filas de Hive en el formato específico del disco al ejecutar un </a:t>
            </a:r>
            <a:r>
              <a:rPr lang="es" sz="1100">
                <a:solidFill>
                  <a:srgbClr val="188038"/>
                </a:solidFill>
                <a:latin typeface="Roboto Mono"/>
                <a:ea typeface="Roboto Mono"/>
                <a:cs typeface="Roboto Mono"/>
                <a:sym typeface="Roboto Mono"/>
              </a:rPr>
              <a:t>INSERT</a:t>
            </a:r>
            <a:r>
              <a:rPr lang="es" sz="1100">
                <a:solidFill>
                  <a:schemeClr val="dk1"/>
                </a:solidFill>
              </a:rPr>
              <a:t>.</a:t>
            </a:r>
            <a:endParaRPr sz="1100">
              <a:solidFill>
                <a:schemeClr val="dk1"/>
              </a:solidFill>
            </a:endParaRPr>
          </a:p>
          <a:p>
            <a:pPr indent="0" lvl="0" marL="0" rtl="0" algn="l">
              <a:lnSpc>
                <a:spcPct val="95000"/>
              </a:lnSpc>
              <a:spcBef>
                <a:spcPts val="1200"/>
              </a:spcBef>
              <a:spcAft>
                <a:spcPts val="1200"/>
              </a:spcAft>
              <a:buSzPts val="935"/>
              <a:buNone/>
            </a:pPr>
            <a:r>
              <a:t/>
            </a:r>
            <a:endParaRPr sz="153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Creando nuestras tablas</a:t>
            </a:r>
            <a:endParaRPr/>
          </a:p>
        </p:txBody>
      </p:sp>
      <p:sp>
        <p:nvSpPr>
          <p:cNvPr id="152" name="Google Shape;152;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Clr>
                <a:schemeClr val="dk1"/>
              </a:buClr>
              <a:buSzPts val="1100"/>
              <a:buFont typeface="Arial"/>
              <a:buNone/>
            </a:pPr>
            <a:r>
              <a:rPr b="1" lang="es" sz="1300">
                <a:solidFill>
                  <a:schemeClr val="dk1"/>
                </a:solidFill>
                <a:latin typeface="Raleway"/>
                <a:ea typeface="Raleway"/>
                <a:cs typeface="Raleway"/>
                <a:sym typeface="Raleway"/>
              </a:rPr>
              <a:t>$&gt;hive</a:t>
            </a:r>
            <a:endParaRPr b="1" sz="13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b="1" lang="es" sz="1300">
                <a:solidFill>
                  <a:schemeClr val="dk1"/>
                </a:solidFill>
                <a:latin typeface="Raleway"/>
                <a:ea typeface="Raleway"/>
                <a:cs typeface="Raleway"/>
                <a:sym typeface="Raleway"/>
              </a:rPr>
              <a:t>hive&gt;</a:t>
            </a:r>
            <a:r>
              <a:rPr lang="es" sz="1300">
                <a:solidFill>
                  <a:schemeClr val="dk1"/>
                </a:solidFill>
                <a:latin typeface="Raleway"/>
                <a:ea typeface="Raleway"/>
                <a:cs typeface="Raleway"/>
                <a:sym typeface="Raleway"/>
              </a:rPr>
              <a:t>CREATE TABLE EMAIL_DATA</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chemeClr val="dk1"/>
                </a:solidFill>
                <a:latin typeface="Raleway"/>
                <a:ea typeface="Raleway"/>
                <a:cs typeface="Raleway"/>
                <a:sym typeface="Raleway"/>
              </a:rPr>
              <a:t>(</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chemeClr val="dk1"/>
                </a:solidFill>
                <a:latin typeface="Raleway"/>
                <a:ea typeface="Raleway"/>
                <a:cs typeface="Raleway"/>
                <a:sym typeface="Raleway"/>
              </a:rPr>
              <a:t>id STRING, sent_date TIMESTAMP,</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chemeClr val="dk1"/>
                </a:solidFill>
                <a:latin typeface="Raleway"/>
                <a:ea typeface="Raleway"/>
                <a:cs typeface="Raleway"/>
                <a:sym typeface="Raleway"/>
              </a:rPr>
              <a:t>logged_user STRING, pc STRING,</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chemeClr val="dk1"/>
                </a:solidFill>
                <a:latin typeface="Raleway"/>
                <a:ea typeface="Raleway"/>
                <a:cs typeface="Raleway"/>
                <a:sym typeface="Raleway"/>
              </a:rPr>
              <a:t>to_mail STRING, cc_mail STRING,</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chemeClr val="dk1"/>
                </a:solidFill>
                <a:latin typeface="Raleway"/>
                <a:ea typeface="Raleway"/>
                <a:cs typeface="Raleway"/>
                <a:sym typeface="Raleway"/>
              </a:rPr>
              <a:t>bcc_mail STRING, from_mail STRING, </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chemeClr val="dk1"/>
                </a:solidFill>
                <a:latin typeface="Raleway"/>
                <a:ea typeface="Raleway"/>
                <a:cs typeface="Raleway"/>
                <a:sym typeface="Raleway"/>
              </a:rPr>
              <a:t>size int, attachment_count INT,</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chemeClr val="dk1"/>
                </a:solidFill>
                <a:latin typeface="Raleway"/>
                <a:ea typeface="Raleway"/>
                <a:cs typeface="Raleway"/>
                <a:sym typeface="Raleway"/>
              </a:rPr>
              <a:t>content STRING</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chemeClr val="dk1"/>
                </a:solidFill>
                <a:latin typeface="Raleway"/>
                <a:ea typeface="Raleway"/>
                <a:cs typeface="Raleway"/>
                <a:sym typeface="Raleway"/>
              </a:rPr>
              <a:t>)</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rgbClr val="FF0000"/>
                </a:solidFill>
                <a:latin typeface="Raleway"/>
                <a:ea typeface="Raleway"/>
                <a:cs typeface="Raleway"/>
                <a:sym typeface="Raleway"/>
              </a:rPr>
              <a:t>ROW FORMAT DELIMITED</a:t>
            </a:r>
            <a:endParaRPr sz="1300">
              <a:solidFill>
                <a:srgbClr val="FF0000"/>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rgbClr val="FF0000"/>
                </a:solidFill>
                <a:latin typeface="Raleway"/>
                <a:ea typeface="Raleway"/>
                <a:cs typeface="Raleway"/>
                <a:sym typeface="Raleway"/>
              </a:rPr>
              <a:t>FIELDS TERMINATED BY ','</a:t>
            </a:r>
            <a:endParaRPr sz="1300">
              <a:solidFill>
                <a:srgbClr val="FF0000"/>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rgbClr val="FF0000"/>
                </a:solidFill>
                <a:latin typeface="Raleway"/>
                <a:ea typeface="Raleway"/>
                <a:cs typeface="Raleway"/>
                <a:sym typeface="Raleway"/>
              </a:rPr>
              <a:t>LINES TERMINATED BY '\n'</a:t>
            </a:r>
            <a:endParaRPr sz="1300">
              <a:solidFill>
                <a:srgbClr val="FF0000"/>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rgbClr val="FF0000"/>
                </a:solidFill>
                <a:latin typeface="Raleway"/>
                <a:ea typeface="Raleway"/>
                <a:cs typeface="Raleway"/>
                <a:sym typeface="Raleway"/>
              </a:rPr>
              <a:t>STORED AS TEXTFILE</a:t>
            </a:r>
            <a:endParaRPr sz="1300">
              <a:solidFill>
                <a:srgbClr val="FF0000"/>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rgbClr val="FF0000"/>
                </a:solidFill>
                <a:latin typeface="Raleway"/>
                <a:ea typeface="Raleway"/>
                <a:cs typeface="Raleway"/>
                <a:sym typeface="Raleway"/>
              </a:rPr>
              <a:t>TBLPROPERTIES ("skip.header.line.count"="1"); </a:t>
            </a:r>
            <a:endParaRPr sz="1300">
              <a:solidFill>
                <a:srgbClr val="FF0000"/>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t/>
            </a:r>
            <a:endParaRPr sz="1300">
              <a:solidFill>
                <a:schemeClr val="dk1"/>
              </a:solidFill>
              <a:latin typeface="Raleway"/>
              <a:ea typeface="Raleway"/>
              <a:cs typeface="Raleway"/>
              <a:sym typeface="Raleway"/>
            </a:endParaRPr>
          </a:p>
          <a:p>
            <a:pPr indent="0" lvl="0" marL="0" rtl="0" algn="l">
              <a:spcBef>
                <a:spcPts val="0"/>
              </a:spcBef>
              <a:spcAft>
                <a:spcPts val="1200"/>
              </a:spcAft>
              <a:buNone/>
            </a:pPr>
            <a:r>
              <a:t/>
            </a:r>
            <a:endParaRPr/>
          </a:p>
        </p:txBody>
      </p:sp>
      <p:cxnSp>
        <p:nvCxnSpPr>
          <p:cNvPr id="153" name="Google Shape;153;p29"/>
          <p:cNvCxnSpPr/>
          <p:nvPr/>
        </p:nvCxnSpPr>
        <p:spPr>
          <a:xfrm flipH="1" rot="10800000">
            <a:off x="4092500" y="2173800"/>
            <a:ext cx="1186500" cy="1393200"/>
          </a:xfrm>
          <a:prstGeom prst="straightConnector1">
            <a:avLst/>
          </a:prstGeom>
          <a:noFill/>
          <a:ln cap="flat" cmpd="sng" w="9525">
            <a:solidFill>
              <a:schemeClr val="dk2"/>
            </a:solidFill>
            <a:prstDash val="solid"/>
            <a:round/>
            <a:headEnd len="med" w="med" type="none"/>
            <a:tailEnd len="med" w="med" type="triangle"/>
          </a:ln>
        </p:spPr>
      </p:cxnSp>
      <p:sp>
        <p:nvSpPr>
          <p:cNvPr id="154" name="Google Shape;154;p29"/>
          <p:cNvSpPr txBox="1"/>
          <p:nvPr/>
        </p:nvSpPr>
        <p:spPr>
          <a:xfrm>
            <a:off x="5254975" y="1401325"/>
            <a:ext cx="2356800" cy="125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Pero tenemos un timestamp raro, esto es para un csv cualquiera.</a:t>
            </a:r>
            <a:endParaRPr sz="18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Creando nuestras tablas</a:t>
            </a:r>
            <a:endParaRPr/>
          </a:p>
        </p:txBody>
      </p:sp>
      <p:sp>
        <p:nvSpPr>
          <p:cNvPr id="160" name="Google Shape;160;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None/>
            </a:pPr>
            <a:r>
              <a:rPr b="1" lang="es" sz="1300">
                <a:solidFill>
                  <a:schemeClr val="dk1"/>
                </a:solidFill>
                <a:latin typeface="Raleway"/>
                <a:ea typeface="Raleway"/>
                <a:cs typeface="Raleway"/>
                <a:sym typeface="Raleway"/>
              </a:rPr>
              <a:t>$&gt;hive</a:t>
            </a:r>
            <a:endParaRPr b="1"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b="1" lang="es" sz="1300">
                <a:solidFill>
                  <a:schemeClr val="dk1"/>
                </a:solidFill>
                <a:latin typeface="Raleway"/>
                <a:ea typeface="Raleway"/>
                <a:cs typeface="Raleway"/>
                <a:sym typeface="Raleway"/>
              </a:rPr>
              <a:t>hive&gt;</a:t>
            </a:r>
            <a:r>
              <a:rPr lang="es" sz="1300">
                <a:solidFill>
                  <a:schemeClr val="dk1"/>
                </a:solidFill>
                <a:latin typeface="Raleway"/>
                <a:ea typeface="Raleway"/>
                <a:cs typeface="Raleway"/>
                <a:sym typeface="Raleway"/>
              </a:rPr>
              <a:t>CREATE TABLE EMAIL_DATA</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id STRING, sent_date TIMESTAMP,</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logged_user STRING, pc STRING,</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to_mail STRING, cc_mail STRING,</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bcc_mail STRING, from_mail STRING, </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size int, attachment_count INT,</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content STRING</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rgbClr val="FF0000"/>
                </a:solidFill>
                <a:latin typeface="Raleway"/>
                <a:ea typeface="Raleway"/>
                <a:cs typeface="Raleway"/>
                <a:sym typeface="Raleway"/>
              </a:rPr>
              <a:t>ROW FORMAT SERDE 'org.apache.hadoop.hive.serde2.lazy.LazySimpleSerDe'</a:t>
            </a:r>
            <a:endParaRPr sz="1300">
              <a:solidFill>
                <a:srgbClr val="FF0000"/>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rgbClr val="FF0000"/>
                </a:solidFill>
                <a:latin typeface="Raleway"/>
                <a:ea typeface="Raleway"/>
                <a:cs typeface="Raleway"/>
                <a:sym typeface="Raleway"/>
              </a:rPr>
              <a:t>WITH SERDEPROPERTIES (</a:t>
            </a:r>
            <a:endParaRPr sz="1300">
              <a:solidFill>
                <a:srgbClr val="FF0000"/>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rgbClr val="FF0000"/>
                </a:solidFill>
                <a:latin typeface="Raleway"/>
                <a:ea typeface="Raleway"/>
                <a:cs typeface="Raleway"/>
                <a:sym typeface="Raleway"/>
              </a:rPr>
              <a:t>  "field.delim" = ",",</a:t>
            </a:r>
            <a:endParaRPr sz="1300">
              <a:solidFill>
                <a:srgbClr val="FF0000"/>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rgbClr val="FF0000"/>
                </a:solidFill>
                <a:latin typeface="Raleway"/>
                <a:ea typeface="Raleway"/>
                <a:cs typeface="Raleway"/>
                <a:sym typeface="Raleway"/>
              </a:rPr>
              <a:t>  "timestamp.formats" = "MM/dd/yyyy HH:mm:ss" </a:t>
            </a:r>
            <a:endParaRPr sz="1300">
              <a:solidFill>
                <a:srgbClr val="FF0000"/>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rgbClr val="FF0000"/>
                </a:solidFill>
                <a:latin typeface="Raleway"/>
                <a:ea typeface="Raleway"/>
                <a:cs typeface="Raleway"/>
                <a:sym typeface="Raleway"/>
              </a:rPr>
              <a:t>)</a:t>
            </a:r>
            <a:endParaRPr sz="1300">
              <a:solidFill>
                <a:srgbClr val="FF0000"/>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rgbClr val="FF0000"/>
                </a:solidFill>
                <a:latin typeface="Raleway"/>
                <a:ea typeface="Raleway"/>
                <a:cs typeface="Raleway"/>
                <a:sym typeface="Raleway"/>
              </a:rPr>
              <a:t>LOCATION 'gs://BUCKET/email/'</a:t>
            </a:r>
            <a:endParaRPr sz="1300">
              <a:solidFill>
                <a:srgbClr val="FF0000"/>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rgbClr val="FF0000"/>
                </a:solidFill>
                <a:latin typeface="Raleway"/>
                <a:ea typeface="Raleway"/>
                <a:cs typeface="Raleway"/>
                <a:sym typeface="Raleway"/>
              </a:rPr>
              <a:t>TBLPROPERTIES ("skip.header.line.count"="1");</a:t>
            </a:r>
            <a:endParaRPr sz="1300">
              <a:solidFill>
                <a:srgbClr val="FF0000"/>
              </a:solidFill>
              <a:latin typeface="Raleway"/>
              <a:ea typeface="Raleway"/>
              <a:cs typeface="Raleway"/>
              <a:sym typeface="Raleway"/>
            </a:endParaRPr>
          </a:p>
          <a:p>
            <a:pPr indent="0" lvl="0" marL="0" rtl="0" algn="l">
              <a:lnSpc>
                <a:spcPct val="100000"/>
              </a:lnSpc>
              <a:spcBef>
                <a:spcPts val="0"/>
              </a:spcBef>
              <a:spcAft>
                <a:spcPts val="0"/>
              </a:spcAft>
              <a:buNone/>
            </a:pPr>
            <a:r>
              <a:t/>
            </a:r>
            <a:endParaRPr sz="1300">
              <a:solidFill>
                <a:schemeClr val="dk1"/>
              </a:solidFill>
              <a:latin typeface="Raleway"/>
              <a:ea typeface="Raleway"/>
              <a:cs typeface="Raleway"/>
              <a:sym typeface="Raleway"/>
            </a:endParaRPr>
          </a:p>
          <a:p>
            <a:pPr indent="0" lvl="0" marL="0" rtl="0" algn="l">
              <a:spcBef>
                <a:spcPts val="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66" name="Google Shape;166;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7" name="Google Shape;167;p31"/>
          <p:cNvPicPr preferRelativeResize="0"/>
          <p:nvPr/>
        </p:nvPicPr>
        <p:blipFill>
          <a:blip r:embed="rId3">
            <a:alphaModFix/>
          </a:blip>
          <a:stretch>
            <a:fillRect/>
          </a:stretch>
        </p:blipFill>
        <p:spPr>
          <a:xfrm>
            <a:off x="0" y="106004"/>
            <a:ext cx="9144001" cy="493149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2"/>
          <p:cNvSpPr txBox="1"/>
          <p:nvPr>
            <p:ph type="title"/>
          </p:nvPr>
        </p:nvSpPr>
        <p:spPr>
          <a:xfrm>
            <a:off x="311700" y="445025"/>
            <a:ext cx="2881200" cy="2644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Viendo detalles de la tabla</a:t>
            </a:r>
            <a:endParaRPr/>
          </a:p>
        </p:txBody>
      </p:sp>
      <p:sp>
        <p:nvSpPr>
          <p:cNvPr id="173" name="Google Shape;173;p32"/>
          <p:cNvSpPr txBox="1"/>
          <p:nvPr/>
        </p:nvSpPr>
        <p:spPr>
          <a:xfrm>
            <a:off x="270700" y="1847200"/>
            <a:ext cx="3081300" cy="213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800">
                <a:solidFill>
                  <a:schemeClr val="dk2"/>
                </a:solidFill>
              </a:rPr>
              <a:t>$&gt;hive</a:t>
            </a:r>
            <a:endParaRPr sz="1800">
              <a:solidFill>
                <a:schemeClr val="dk2"/>
              </a:solidFill>
            </a:endParaRPr>
          </a:p>
          <a:p>
            <a:pPr indent="0" lvl="0" marL="0" rtl="0" algn="l">
              <a:spcBef>
                <a:spcPts val="0"/>
              </a:spcBef>
              <a:spcAft>
                <a:spcPts val="0"/>
              </a:spcAft>
              <a:buClr>
                <a:schemeClr val="dk1"/>
              </a:buClr>
              <a:buSzPts val="1100"/>
              <a:buFont typeface="Arial"/>
              <a:buNone/>
            </a:pPr>
            <a:r>
              <a:rPr lang="es" sz="1800">
                <a:solidFill>
                  <a:schemeClr val="dk2"/>
                </a:solidFill>
              </a:rPr>
              <a:t>hive</a:t>
            </a:r>
            <a:r>
              <a:rPr lang="es" sz="1800">
                <a:solidFill>
                  <a:schemeClr val="dk2"/>
                </a:solidFill>
              </a:rPr>
              <a:t>&gt;</a:t>
            </a:r>
            <a:endParaRPr sz="1800">
              <a:solidFill>
                <a:schemeClr val="dk2"/>
              </a:solidFill>
            </a:endParaRPr>
          </a:p>
          <a:p>
            <a:pPr indent="0" lvl="0" marL="0" rtl="0" algn="l">
              <a:spcBef>
                <a:spcPts val="0"/>
              </a:spcBef>
              <a:spcAft>
                <a:spcPts val="0"/>
              </a:spcAft>
              <a:buNone/>
            </a:pPr>
            <a:r>
              <a:rPr lang="es" sz="1800">
                <a:solidFill>
                  <a:schemeClr val="dk2"/>
                </a:solidFill>
              </a:rPr>
              <a:t>describe formatted [TABLA]</a:t>
            </a:r>
            <a:endParaRPr sz="1800">
              <a:solidFill>
                <a:schemeClr val="dk2"/>
              </a:solidFill>
            </a:endParaRPr>
          </a:p>
        </p:txBody>
      </p:sp>
      <p:pic>
        <p:nvPicPr>
          <p:cNvPr id="174" name="Google Shape;174;p32"/>
          <p:cNvPicPr preferRelativeResize="0"/>
          <p:nvPr/>
        </p:nvPicPr>
        <p:blipFill>
          <a:blip r:embed="rId3">
            <a:alphaModFix/>
          </a:blip>
          <a:stretch>
            <a:fillRect/>
          </a:stretch>
        </p:blipFill>
        <p:spPr>
          <a:xfrm>
            <a:off x="3504400" y="152400"/>
            <a:ext cx="4760225" cy="49396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Creando nuestras tablas.</a:t>
            </a:r>
            <a:endParaRPr/>
          </a:p>
        </p:txBody>
      </p:sp>
      <p:sp>
        <p:nvSpPr>
          <p:cNvPr id="180" name="Google Shape;180;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b="1" lang="es" sz="1300">
                <a:solidFill>
                  <a:schemeClr val="dk1"/>
                </a:solidFill>
                <a:latin typeface="Raleway"/>
                <a:ea typeface="Raleway"/>
                <a:cs typeface="Raleway"/>
                <a:sym typeface="Raleway"/>
              </a:rPr>
              <a:t>$&gt;hive</a:t>
            </a:r>
            <a:endParaRPr b="1" sz="13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b="1" lang="es" sz="1300">
                <a:solidFill>
                  <a:schemeClr val="dk1"/>
                </a:solidFill>
                <a:latin typeface="Raleway"/>
                <a:ea typeface="Raleway"/>
                <a:cs typeface="Raleway"/>
                <a:sym typeface="Raleway"/>
              </a:rPr>
              <a:t>hive&gt;</a:t>
            </a:r>
            <a:r>
              <a:rPr lang="es" sz="1300">
                <a:solidFill>
                  <a:schemeClr val="dk1"/>
                </a:solidFill>
                <a:latin typeface="Raleway"/>
                <a:ea typeface="Raleway"/>
                <a:cs typeface="Raleway"/>
                <a:sym typeface="Raleway"/>
              </a:rPr>
              <a:t>CREATE TABLE HTTP_DATA</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chemeClr val="dk1"/>
                </a:solidFill>
                <a:latin typeface="Raleway"/>
                <a:ea typeface="Raleway"/>
                <a:cs typeface="Raleway"/>
                <a:sym typeface="Raleway"/>
              </a:rPr>
              <a:t>(</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chemeClr val="dk1"/>
                </a:solidFill>
                <a:latin typeface="Raleway"/>
                <a:ea typeface="Raleway"/>
                <a:cs typeface="Raleway"/>
                <a:sym typeface="Raleway"/>
              </a:rPr>
              <a:t>seq INT, id STRING, </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chemeClr val="dk1"/>
                </a:solidFill>
                <a:latin typeface="Raleway"/>
                <a:ea typeface="Raleway"/>
                <a:cs typeface="Raleway"/>
                <a:sym typeface="Raleway"/>
              </a:rPr>
              <a:t>visited TIMESTAMP, logged_user STRING, </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chemeClr val="dk1"/>
                </a:solidFill>
                <a:latin typeface="Raleway"/>
                <a:ea typeface="Raleway"/>
                <a:cs typeface="Raleway"/>
                <a:sym typeface="Raleway"/>
              </a:rPr>
              <a:t>pc STRING, url STRING,</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chemeClr val="dk1"/>
                </a:solidFill>
                <a:latin typeface="Raleway"/>
                <a:ea typeface="Raleway"/>
                <a:cs typeface="Raleway"/>
                <a:sym typeface="Raleway"/>
              </a:rPr>
              <a:t> content STRING, sentiment DOUBLE</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chemeClr val="dk1"/>
                </a:solidFill>
                <a:latin typeface="Raleway"/>
                <a:ea typeface="Raleway"/>
                <a:cs typeface="Raleway"/>
                <a:sym typeface="Raleway"/>
              </a:rPr>
              <a:t>)</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STORED AS PARQUET</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rPr lang="es" sz="1300">
                <a:solidFill>
                  <a:schemeClr val="dk1"/>
                </a:solidFill>
                <a:latin typeface="Raleway"/>
                <a:ea typeface="Raleway"/>
                <a:cs typeface="Raleway"/>
                <a:sym typeface="Raleway"/>
              </a:rPr>
              <a:t>LOCATION 'gs://BUCKET/http_sentiment_compressed</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Un ejemplo de query</a:t>
            </a:r>
            <a:endParaRPr/>
          </a:p>
        </p:txBody>
      </p:sp>
      <p:sp>
        <p:nvSpPr>
          <p:cNvPr id="186" name="Google Shape;186;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Veamos que sucede</a:t>
            </a:r>
            <a:endParaRPr/>
          </a:p>
        </p:txBody>
      </p:sp>
      <p:pic>
        <p:nvPicPr>
          <p:cNvPr id="187" name="Google Shape;187;p34"/>
          <p:cNvPicPr preferRelativeResize="0"/>
          <p:nvPr/>
        </p:nvPicPr>
        <p:blipFill>
          <a:blip r:embed="rId3">
            <a:alphaModFix/>
          </a:blip>
          <a:stretch>
            <a:fillRect/>
          </a:stretch>
        </p:blipFill>
        <p:spPr>
          <a:xfrm>
            <a:off x="157150" y="1665275"/>
            <a:ext cx="8829675" cy="23907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Para mejorar las consultas ("gráficamente")</a:t>
            </a:r>
            <a:endParaRPr/>
          </a:p>
        </p:txBody>
      </p:sp>
      <p:sp>
        <p:nvSpPr>
          <p:cNvPr id="193" name="Google Shape;193;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Nos podemos conectar con otro programa a HIVE, se llama beeline, y sólo correremos: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s"/>
              <a:t>beeline -u jdbc:hive2://localhost:10000 --outputformat=table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Un join</a:t>
            </a:r>
            <a:endParaRPr/>
          </a:p>
        </p:txBody>
      </p:sp>
      <p:sp>
        <p:nvSpPr>
          <p:cNvPr id="199" name="Google Shape;199;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SELECT </a:t>
            </a:r>
            <a:endParaRPr/>
          </a:p>
          <a:p>
            <a:pPr indent="457200" lvl="0" marL="0" rtl="0" algn="l">
              <a:spcBef>
                <a:spcPts val="1200"/>
              </a:spcBef>
              <a:spcAft>
                <a:spcPts val="0"/>
              </a:spcAft>
              <a:buNone/>
            </a:pPr>
            <a:r>
              <a:rPr lang="es"/>
              <a:t>logged_user, </a:t>
            </a:r>
            <a:endParaRPr/>
          </a:p>
          <a:p>
            <a:pPr indent="0" lvl="0" marL="457200" rtl="0" algn="l">
              <a:spcBef>
                <a:spcPts val="1200"/>
              </a:spcBef>
              <a:spcAft>
                <a:spcPts val="0"/>
              </a:spcAft>
              <a:buNone/>
            </a:pPr>
            <a:r>
              <a:rPr lang="es"/>
              <a:t>AVG(sentiment) as avg_sentiment, </a:t>
            </a:r>
            <a:endParaRPr/>
          </a:p>
          <a:p>
            <a:pPr indent="0" lvl="0" marL="457200" rtl="0" algn="l">
              <a:spcBef>
                <a:spcPts val="1200"/>
              </a:spcBef>
              <a:spcAft>
                <a:spcPts val="0"/>
              </a:spcAft>
              <a:buNone/>
            </a:pPr>
            <a:r>
              <a:rPr lang="es"/>
              <a:t>COUNT(url) as total_visitas </a:t>
            </a:r>
            <a:endParaRPr/>
          </a:p>
          <a:p>
            <a:pPr indent="0" lvl="0" marL="0" rtl="0" algn="l">
              <a:spcBef>
                <a:spcPts val="1200"/>
              </a:spcBef>
              <a:spcAft>
                <a:spcPts val="0"/>
              </a:spcAft>
              <a:buNone/>
            </a:pPr>
            <a:r>
              <a:rPr lang="es"/>
              <a:t>FROM HTTP_DATA </a:t>
            </a:r>
            <a:endParaRPr/>
          </a:p>
          <a:p>
            <a:pPr indent="0" lvl="0" marL="0" rtl="0" algn="l">
              <a:spcBef>
                <a:spcPts val="1200"/>
              </a:spcBef>
              <a:spcAft>
                <a:spcPts val="0"/>
              </a:spcAft>
              <a:buClr>
                <a:schemeClr val="dk1"/>
              </a:buClr>
              <a:buSzPts val="1100"/>
              <a:buFont typeface="Arial"/>
              <a:buNone/>
            </a:pPr>
            <a:r>
              <a:rPr lang="es"/>
              <a:t>GROUP BY logged_user</a:t>
            </a:r>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05" name="Google Shape;205;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6" name="Google Shape;206;p37"/>
          <p:cNvPicPr preferRelativeResize="0"/>
          <p:nvPr/>
        </p:nvPicPr>
        <p:blipFill>
          <a:blip r:embed="rId3">
            <a:alphaModFix/>
          </a:blip>
          <a:stretch>
            <a:fillRect/>
          </a:stretch>
        </p:blipFill>
        <p:spPr>
          <a:xfrm>
            <a:off x="166688" y="95250"/>
            <a:ext cx="8810625" cy="4953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8"/>
          <p:cNvSpPr txBox="1"/>
          <p:nvPr>
            <p:ph type="title"/>
          </p:nvPr>
        </p:nvSpPr>
        <p:spPr>
          <a:xfrm>
            <a:off x="5427950" y="289525"/>
            <a:ext cx="3405900" cy="1093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s"/>
              <a:t>Optimización I: Partitioning</a:t>
            </a:r>
            <a:endParaRPr/>
          </a:p>
        </p:txBody>
      </p:sp>
      <p:sp>
        <p:nvSpPr>
          <p:cNvPr id="211" name="Google Shape;211;p38"/>
          <p:cNvSpPr txBox="1"/>
          <p:nvPr>
            <p:ph idx="1" type="body"/>
          </p:nvPr>
        </p:nvSpPr>
        <p:spPr>
          <a:xfrm>
            <a:off x="5427950" y="1565672"/>
            <a:ext cx="3405900" cy="3288300"/>
          </a:xfrm>
          <a:prstGeom prst="rect">
            <a:avLst/>
          </a:prstGeom>
        </p:spPr>
        <p:txBody>
          <a:bodyPr anchorCtr="0" anchor="t" bIns="0" lIns="0" spcFirstLastPara="1" rIns="0" wrap="square" tIns="0">
            <a:normAutofit lnSpcReduction="10000"/>
          </a:bodyPr>
          <a:lstStyle/>
          <a:p>
            <a:pPr indent="-342900" lvl="0" marL="457200" rtl="0" algn="l">
              <a:spcBef>
                <a:spcPts val="0"/>
              </a:spcBef>
              <a:spcAft>
                <a:spcPts val="0"/>
              </a:spcAft>
              <a:buSzPts val="1800"/>
              <a:buChar char="●"/>
            </a:pPr>
            <a:r>
              <a:rPr lang="es"/>
              <a:t>El Particionamiento divide los datos en estructuras físicas </a:t>
            </a:r>
            <a:endParaRPr/>
          </a:p>
          <a:p>
            <a:pPr indent="-342900" lvl="0" marL="457200" rtl="0" algn="l">
              <a:spcBef>
                <a:spcPts val="0"/>
              </a:spcBef>
              <a:spcAft>
                <a:spcPts val="0"/>
              </a:spcAft>
              <a:buSzPts val="1800"/>
              <a:buChar char="●"/>
            </a:pPr>
            <a:r>
              <a:rPr lang="es"/>
              <a:t>Hive crea carpetas basadas en los criterios de partición </a:t>
            </a:r>
            <a:endParaRPr/>
          </a:p>
          <a:p>
            <a:pPr indent="-342900" lvl="0" marL="457200" rtl="0" algn="l">
              <a:spcBef>
                <a:spcPts val="0"/>
              </a:spcBef>
              <a:spcAft>
                <a:spcPts val="0"/>
              </a:spcAft>
              <a:buSzPts val="1800"/>
              <a:buChar char="●"/>
            </a:pPr>
            <a:r>
              <a:rPr lang="es"/>
              <a:t>El caso práctico usa año y mes para particionar los emails </a:t>
            </a:r>
            <a:endParaRPr/>
          </a:p>
          <a:p>
            <a:pPr indent="-342900" lvl="0" marL="457200" rtl="0" algn="l">
              <a:spcBef>
                <a:spcPts val="0"/>
              </a:spcBef>
              <a:spcAft>
                <a:spcPts val="0"/>
              </a:spcAft>
              <a:buSzPts val="1800"/>
              <a:buChar char="●"/>
            </a:pPr>
            <a:r>
              <a:rPr lang="es"/>
              <a:t>La poda de particiones reduce significativamente la carga de I/O </a:t>
            </a:r>
            <a:endParaRPr/>
          </a:p>
        </p:txBody>
      </p:sp>
      <p:pic>
        <p:nvPicPr>
          <p:cNvPr id="212" name="Google Shape;212;p38"/>
          <p:cNvPicPr preferRelativeResize="0"/>
          <p:nvPr>
            <p:ph idx="2" type="pic"/>
          </p:nvPr>
        </p:nvPicPr>
        <p:blipFill>
          <a:blip r:embed="rId3">
            <a:alphaModFix/>
          </a:blip>
          <a:stretch>
            <a:fillRect/>
          </a:stretch>
        </p:blipFill>
        <p:spPr>
          <a:xfrm>
            <a:off x="0" y="0"/>
            <a:ext cx="5148000" cy="5143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id="217" name="Google Shape;217;p39"/>
          <p:cNvPicPr preferRelativeResize="0"/>
          <p:nvPr/>
        </p:nvPicPr>
        <p:blipFill rotWithShape="1">
          <a:blip r:embed="rId3">
            <a:alphaModFix/>
          </a:blip>
          <a:srcRect b="0" l="50" r="50" t="0"/>
          <a:stretch/>
        </p:blipFill>
        <p:spPr>
          <a:xfrm>
            <a:off x="722700" y="80425"/>
            <a:ext cx="7430450" cy="49826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s" sz="1300">
                <a:solidFill>
                  <a:schemeClr val="dk1"/>
                </a:solidFill>
                <a:latin typeface="Raleway"/>
                <a:ea typeface="Raleway"/>
                <a:cs typeface="Raleway"/>
                <a:sym typeface="Raleway"/>
              </a:rPr>
              <a:t>$&gt;hive</a:t>
            </a:r>
            <a:endParaRPr b="1"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b="1" lang="es" sz="1300">
                <a:solidFill>
                  <a:schemeClr val="dk1"/>
                </a:solidFill>
                <a:latin typeface="Raleway"/>
                <a:ea typeface="Raleway"/>
                <a:cs typeface="Raleway"/>
                <a:sym typeface="Raleway"/>
              </a:rPr>
              <a:t>hive&gt;</a:t>
            </a:r>
            <a:r>
              <a:rPr lang="es" sz="1300">
                <a:solidFill>
                  <a:schemeClr val="dk1"/>
                </a:solidFill>
                <a:latin typeface="Raleway"/>
                <a:ea typeface="Raleway"/>
                <a:cs typeface="Raleway"/>
                <a:sym typeface="Raleway"/>
              </a:rPr>
              <a:t>CREATE TABLE HTTP_DATA_PARTITIONED</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seq INT, id STRING, </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visited TIMESTAMP, logged_user STRING, </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pc STRING, url STRING,</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 content STRING, sentiment DOUBLE</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PARTITIONED BY (year int, month int)</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STORED AS PARQUET</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s" sz="1300">
                <a:solidFill>
                  <a:schemeClr val="dk1"/>
                </a:solidFill>
                <a:latin typeface="Raleway"/>
                <a:ea typeface="Raleway"/>
                <a:cs typeface="Raleway"/>
                <a:sym typeface="Raleway"/>
              </a:rPr>
              <a:t>$&gt;hive</a:t>
            </a:r>
            <a:endParaRPr b="1"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b="1" lang="es" sz="1300">
                <a:solidFill>
                  <a:schemeClr val="dk1"/>
                </a:solidFill>
                <a:latin typeface="Raleway"/>
                <a:ea typeface="Raleway"/>
                <a:cs typeface="Raleway"/>
                <a:sym typeface="Raleway"/>
              </a:rPr>
              <a:t>hive&gt;</a:t>
            </a:r>
            <a:r>
              <a:rPr lang="es" sz="1300">
                <a:solidFill>
                  <a:schemeClr val="dk1"/>
                </a:solidFill>
                <a:latin typeface="Raleway"/>
                <a:ea typeface="Raleway"/>
                <a:cs typeface="Raleway"/>
                <a:sym typeface="Raleway"/>
              </a:rPr>
              <a:t>CREATE TABLE HTTP_DATA_PARTITIONED</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seq INT, id STRING, </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visited TIMESTAMP, logged_user STRING, </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pc STRING, url STRING,</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 content STRING, sentiment DOUBLE</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PARTITIONED BY (year int, month int)</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rPr lang="es" sz="1300">
                <a:solidFill>
                  <a:schemeClr val="dk1"/>
                </a:solidFill>
                <a:latin typeface="Raleway"/>
                <a:ea typeface="Raleway"/>
                <a:cs typeface="Raleway"/>
                <a:sym typeface="Raleway"/>
              </a:rPr>
              <a:t>STORED AS PARQUET</a:t>
            </a:r>
            <a:endParaRPr sz="1300">
              <a:solidFill>
                <a:schemeClr val="dk1"/>
              </a:solidFill>
              <a:latin typeface="Raleway"/>
              <a:ea typeface="Raleway"/>
              <a:cs typeface="Raleway"/>
              <a:sym typeface="Raleway"/>
            </a:endParaRPr>
          </a:p>
          <a:p>
            <a:pPr indent="0" lvl="0" marL="0" rtl="0" algn="l">
              <a:lnSpc>
                <a:spcPct val="100000"/>
              </a:lnSpc>
              <a:spcBef>
                <a:spcPts val="0"/>
              </a:spcBef>
              <a:spcAft>
                <a:spcPts val="0"/>
              </a:spcAft>
              <a:buNone/>
            </a:pPr>
            <a:r>
              <a:t/>
            </a:r>
            <a:endParaRPr/>
          </a:p>
        </p:txBody>
      </p:sp>
      <p:sp>
        <p:nvSpPr>
          <p:cNvPr id="228" name="Google Shape;228;p41"/>
          <p:cNvSpPr txBox="1"/>
          <p:nvPr/>
        </p:nvSpPr>
        <p:spPr>
          <a:xfrm>
            <a:off x="4227875" y="3367950"/>
            <a:ext cx="2325000" cy="105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Aquí no usamos "location", veremos que sucede internamente</a:t>
            </a:r>
            <a:endParaRPr sz="1800">
              <a:solidFill>
                <a:schemeClr val="dk2"/>
              </a:solidFill>
            </a:endParaRPr>
          </a:p>
        </p:txBody>
      </p:sp>
      <p:cxnSp>
        <p:nvCxnSpPr>
          <p:cNvPr id="229" name="Google Shape;229;p41"/>
          <p:cNvCxnSpPr/>
          <p:nvPr/>
        </p:nvCxnSpPr>
        <p:spPr>
          <a:xfrm rot="10800000">
            <a:off x="2102075" y="3208800"/>
            <a:ext cx="2125800" cy="6879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Insertando desde un query</a:t>
            </a:r>
            <a:endParaRPr/>
          </a:p>
        </p:txBody>
      </p:sp>
      <p:sp>
        <p:nvSpPr>
          <p:cNvPr id="235" name="Google Shape;235;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36" name="Google Shape;236;p42"/>
          <p:cNvSpPr txBox="1"/>
          <p:nvPr/>
        </p:nvSpPr>
        <p:spPr>
          <a:xfrm>
            <a:off x="406050" y="1449100"/>
            <a:ext cx="3957300" cy="180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00">
                <a:solidFill>
                  <a:srgbClr val="FF7B72"/>
                </a:solidFill>
                <a:highlight>
                  <a:srgbClr val="151B23"/>
                </a:highlight>
                <a:latin typeface="Courier New"/>
                <a:ea typeface="Courier New"/>
                <a:cs typeface="Courier New"/>
                <a:sym typeface="Courier New"/>
              </a:rPr>
              <a:t>INSERT INTO</a:t>
            </a:r>
            <a:r>
              <a:rPr lang="es" sz="1500">
                <a:solidFill>
                  <a:srgbClr val="F0F6FC"/>
                </a:solidFill>
                <a:highlight>
                  <a:srgbClr val="151B23"/>
                </a:highlight>
                <a:latin typeface="Courier New"/>
                <a:ea typeface="Courier New"/>
                <a:cs typeface="Courier New"/>
                <a:sym typeface="Courier New"/>
              </a:rPr>
              <a:t> HTTP_DATA_PARTITIONED </a:t>
            </a:r>
            <a:endParaRPr sz="1500">
              <a:solidFill>
                <a:srgbClr val="F0F6FC"/>
              </a:solidFill>
              <a:highlight>
                <a:srgbClr val="151B23"/>
              </a:highlight>
              <a:latin typeface="Courier New"/>
              <a:ea typeface="Courier New"/>
              <a:cs typeface="Courier New"/>
              <a:sym typeface="Courier New"/>
            </a:endParaRPr>
          </a:p>
          <a:p>
            <a:pPr indent="0" lvl="0" marL="0" rtl="0" algn="l">
              <a:spcBef>
                <a:spcPts val="0"/>
              </a:spcBef>
              <a:spcAft>
                <a:spcPts val="0"/>
              </a:spcAft>
              <a:buNone/>
            </a:pPr>
            <a:r>
              <a:rPr lang="es" sz="1500">
                <a:solidFill>
                  <a:srgbClr val="FF7B72"/>
                </a:solidFill>
                <a:highlight>
                  <a:srgbClr val="151B23"/>
                </a:highlight>
                <a:latin typeface="Courier New"/>
                <a:ea typeface="Courier New"/>
                <a:cs typeface="Courier New"/>
                <a:sym typeface="Courier New"/>
              </a:rPr>
              <a:t>SELECT</a:t>
            </a:r>
            <a:r>
              <a:rPr lang="es" sz="1500">
                <a:solidFill>
                  <a:srgbClr val="F0F6FC"/>
                </a:solidFill>
                <a:highlight>
                  <a:srgbClr val="151B23"/>
                </a:highlight>
                <a:latin typeface="Courier New"/>
                <a:ea typeface="Courier New"/>
                <a:cs typeface="Courier New"/>
                <a:sym typeface="Courier New"/>
              </a:rPr>
              <a:t> seq, id, visited, logged_user, pc, url, content, sentiment, </a:t>
            </a:r>
            <a:endParaRPr sz="1500">
              <a:solidFill>
                <a:srgbClr val="F0F6FC"/>
              </a:solidFill>
              <a:highlight>
                <a:srgbClr val="151B23"/>
              </a:highlight>
              <a:latin typeface="Courier New"/>
              <a:ea typeface="Courier New"/>
              <a:cs typeface="Courier New"/>
              <a:sym typeface="Courier New"/>
            </a:endParaRPr>
          </a:p>
          <a:p>
            <a:pPr indent="0" lvl="0" marL="0" rtl="0" algn="l">
              <a:spcBef>
                <a:spcPts val="0"/>
              </a:spcBef>
              <a:spcAft>
                <a:spcPts val="0"/>
              </a:spcAft>
              <a:buNone/>
            </a:pPr>
            <a:r>
              <a:rPr lang="es" sz="1500">
                <a:solidFill>
                  <a:srgbClr val="F0F6FC"/>
                </a:solidFill>
                <a:highlight>
                  <a:srgbClr val="151B23"/>
                </a:highlight>
                <a:latin typeface="Courier New"/>
                <a:ea typeface="Courier New"/>
                <a:cs typeface="Courier New"/>
                <a:sym typeface="Courier New"/>
              </a:rPr>
              <a:t>       year(visited) </a:t>
            </a:r>
            <a:r>
              <a:rPr lang="es" sz="1500">
                <a:solidFill>
                  <a:srgbClr val="FF7B72"/>
                </a:solidFill>
                <a:highlight>
                  <a:srgbClr val="151B23"/>
                </a:highlight>
                <a:latin typeface="Courier New"/>
                <a:ea typeface="Courier New"/>
                <a:cs typeface="Courier New"/>
                <a:sym typeface="Courier New"/>
              </a:rPr>
              <a:t>as</a:t>
            </a:r>
            <a:r>
              <a:rPr lang="es" sz="1500">
                <a:solidFill>
                  <a:srgbClr val="F0F6FC"/>
                </a:solidFill>
                <a:highlight>
                  <a:srgbClr val="151B23"/>
                </a:highlight>
                <a:latin typeface="Courier New"/>
                <a:ea typeface="Courier New"/>
                <a:cs typeface="Courier New"/>
                <a:sym typeface="Courier New"/>
              </a:rPr>
              <a:t> year, month(visited) </a:t>
            </a:r>
            <a:r>
              <a:rPr lang="es" sz="1500">
                <a:solidFill>
                  <a:srgbClr val="FF7B72"/>
                </a:solidFill>
                <a:highlight>
                  <a:srgbClr val="151B23"/>
                </a:highlight>
                <a:latin typeface="Courier New"/>
                <a:ea typeface="Courier New"/>
                <a:cs typeface="Courier New"/>
                <a:sym typeface="Courier New"/>
              </a:rPr>
              <a:t>as</a:t>
            </a:r>
            <a:r>
              <a:rPr lang="es" sz="1500">
                <a:solidFill>
                  <a:srgbClr val="F0F6FC"/>
                </a:solidFill>
                <a:highlight>
                  <a:srgbClr val="151B23"/>
                </a:highlight>
                <a:latin typeface="Courier New"/>
                <a:ea typeface="Courier New"/>
                <a:cs typeface="Courier New"/>
                <a:sym typeface="Courier New"/>
              </a:rPr>
              <a:t> month </a:t>
            </a:r>
            <a:endParaRPr sz="1500">
              <a:solidFill>
                <a:srgbClr val="F0F6FC"/>
              </a:solidFill>
              <a:highlight>
                <a:srgbClr val="151B23"/>
              </a:highlight>
              <a:latin typeface="Courier New"/>
              <a:ea typeface="Courier New"/>
              <a:cs typeface="Courier New"/>
              <a:sym typeface="Courier New"/>
            </a:endParaRPr>
          </a:p>
          <a:p>
            <a:pPr indent="0" lvl="0" marL="152400" marR="152400" rtl="0" algn="l">
              <a:lnSpc>
                <a:spcPct val="145000"/>
              </a:lnSpc>
              <a:spcBef>
                <a:spcPts val="0"/>
              </a:spcBef>
              <a:spcAft>
                <a:spcPts val="0"/>
              </a:spcAft>
              <a:buNone/>
            </a:pPr>
            <a:r>
              <a:rPr lang="es" sz="1500">
                <a:solidFill>
                  <a:srgbClr val="FF7B72"/>
                </a:solidFill>
                <a:highlight>
                  <a:srgbClr val="151B23"/>
                </a:highlight>
                <a:latin typeface="Courier New"/>
                <a:ea typeface="Courier New"/>
                <a:cs typeface="Courier New"/>
                <a:sym typeface="Courier New"/>
              </a:rPr>
              <a:t>FROM</a:t>
            </a:r>
            <a:r>
              <a:rPr lang="es" sz="1500">
                <a:solidFill>
                  <a:srgbClr val="F0F6FC"/>
                </a:solidFill>
                <a:highlight>
                  <a:srgbClr val="151B23"/>
                </a:highlight>
                <a:latin typeface="Courier New"/>
                <a:ea typeface="Courier New"/>
                <a:cs typeface="Courier New"/>
                <a:sym typeface="Courier New"/>
              </a:rPr>
              <a:t> HTTP_DATA;</a:t>
            </a:r>
            <a:endParaRPr sz="1500">
              <a:solidFill>
                <a:srgbClr val="F0F6FC"/>
              </a:solidFill>
              <a:highlight>
                <a:srgbClr val="151B23"/>
              </a:highlight>
              <a:latin typeface="Courier New"/>
              <a:ea typeface="Courier New"/>
              <a:cs typeface="Courier New"/>
              <a:sym typeface="Courier New"/>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42" name="Google Shape;242;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crea un flujo gráfico de qué sucede en este query INSERT INTO HTTP_DATA_PARTITIONED &#10;SELECT seq, id, visited, logged_user, pc, url, content, sentiment, &#10;       year(visited) as year, month(visited) as month &#10;FROM HTTP_DATA;" id="243" name="Google Shape;243;p43"/>
          <p:cNvPicPr preferRelativeResize="0"/>
          <p:nvPr/>
        </p:nvPicPr>
        <p:blipFill>
          <a:blip r:embed="rId3">
            <a:alphaModFix/>
          </a:blip>
          <a:stretch>
            <a:fillRect/>
          </a:stretch>
        </p:blipFill>
        <p:spPr>
          <a:xfrm>
            <a:off x="2133600" y="0"/>
            <a:ext cx="4876800" cy="48768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49" name="Google Shape;249;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50" name="Google Shape;250;p44"/>
          <p:cNvPicPr preferRelativeResize="0"/>
          <p:nvPr/>
        </p:nvPicPr>
        <p:blipFill>
          <a:blip r:embed="rId3">
            <a:alphaModFix/>
          </a:blip>
          <a:stretch>
            <a:fillRect/>
          </a:stretch>
        </p:blipFill>
        <p:spPr>
          <a:xfrm>
            <a:off x="190500" y="504825"/>
            <a:ext cx="8763000" cy="41338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Dónde y cómo quedaron los datos?</a:t>
            </a:r>
            <a:endParaRPr/>
          </a:p>
        </p:txBody>
      </p:sp>
      <p:sp>
        <p:nvSpPr>
          <p:cNvPr id="256" name="Google Shape;256;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57" name="Google Shape;257;p45"/>
          <p:cNvPicPr preferRelativeResize="0"/>
          <p:nvPr/>
        </p:nvPicPr>
        <p:blipFill>
          <a:blip r:embed="rId3">
            <a:alphaModFix/>
          </a:blip>
          <a:stretch>
            <a:fillRect/>
          </a:stretch>
        </p:blipFill>
        <p:spPr>
          <a:xfrm>
            <a:off x="90488" y="338138"/>
            <a:ext cx="8963025" cy="44672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63" name="Google Shape;263;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64" name="Google Shape;264;p46"/>
          <p:cNvPicPr preferRelativeResize="0"/>
          <p:nvPr/>
        </p:nvPicPr>
        <p:blipFill>
          <a:blip r:embed="rId3">
            <a:alphaModFix/>
          </a:blip>
          <a:stretch>
            <a:fillRect/>
          </a:stretch>
        </p:blipFill>
        <p:spPr>
          <a:xfrm>
            <a:off x="0" y="1178977"/>
            <a:ext cx="9144000" cy="278554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El query anterior optimizado</a:t>
            </a:r>
            <a:endParaRPr/>
          </a:p>
        </p:txBody>
      </p:sp>
      <p:sp>
        <p:nvSpPr>
          <p:cNvPr id="270" name="Google Shape;270;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71" name="Google Shape;271;p47"/>
          <p:cNvPicPr preferRelativeResize="0"/>
          <p:nvPr/>
        </p:nvPicPr>
        <p:blipFill>
          <a:blip r:embed="rId3">
            <a:alphaModFix/>
          </a:blip>
          <a:stretch>
            <a:fillRect/>
          </a:stretch>
        </p:blipFill>
        <p:spPr>
          <a:xfrm>
            <a:off x="228600" y="9525"/>
            <a:ext cx="8686800" cy="51244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8"/>
          <p:cNvSpPr txBox="1"/>
          <p:nvPr>
            <p:ph type="title"/>
          </p:nvPr>
        </p:nvSpPr>
        <p:spPr>
          <a:xfrm>
            <a:off x="507450" y="331400"/>
            <a:ext cx="8129100" cy="7962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s"/>
              <a:t>Optimización II: Bucketing</a:t>
            </a:r>
            <a:endParaRPr/>
          </a:p>
        </p:txBody>
      </p:sp>
      <p:sp>
        <p:nvSpPr>
          <p:cNvPr id="276" name="Google Shape;276;p48"/>
          <p:cNvSpPr txBox="1"/>
          <p:nvPr>
            <p:ph idx="1" type="body"/>
          </p:nvPr>
        </p:nvSpPr>
        <p:spPr>
          <a:xfrm>
            <a:off x="507456" y="1519301"/>
            <a:ext cx="4782300" cy="3090600"/>
          </a:xfrm>
          <a:prstGeom prst="rect">
            <a:avLst/>
          </a:prstGeom>
        </p:spPr>
        <p:txBody>
          <a:bodyPr anchorCtr="0" anchor="t" bIns="0" lIns="0" spcFirstLastPara="1" rIns="0" wrap="square" tIns="0">
            <a:normAutofit lnSpcReduction="20000"/>
          </a:bodyPr>
          <a:lstStyle/>
          <a:p>
            <a:pPr indent="-342900" lvl="0" marL="457200" rtl="0" algn="l">
              <a:spcBef>
                <a:spcPts val="0"/>
              </a:spcBef>
              <a:spcAft>
                <a:spcPts val="0"/>
              </a:spcAft>
              <a:buSzPts val="1800"/>
              <a:buChar char="●"/>
            </a:pPr>
            <a:r>
              <a:rPr lang="es"/>
              <a:t>El Bucketing segmenta datos en cubetas fijas con un hash.</a:t>
            </a:r>
            <a:endParaRPr/>
          </a:p>
          <a:p>
            <a:pPr indent="-342900" lvl="0" marL="457200" rtl="0" algn="l">
              <a:spcBef>
                <a:spcPts val="0"/>
              </a:spcBef>
              <a:spcAft>
                <a:spcPts val="0"/>
              </a:spcAft>
              <a:buSzPts val="1800"/>
              <a:buChar char="●"/>
            </a:pPr>
            <a:r>
              <a:rPr lang="es"/>
              <a:t>Es una técnica de optimización enfocada en la eficiencia de los joins .</a:t>
            </a:r>
            <a:endParaRPr/>
          </a:p>
          <a:p>
            <a:pPr indent="-342900" lvl="0" marL="457200" rtl="0" algn="l">
              <a:spcBef>
                <a:spcPts val="0"/>
              </a:spcBef>
              <a:spcAft>
                <a:spcPts val="0"/>
              </a:spcAft>
              <a:buSzPts val="1800"/>
              <a:buChar char="●"/>
            </a:pPr>
            <a:r>
              <a:rPr lang="es"/>
              <a:t>Divide los datos en archivos físicos optimizados dentro de las carpetas </a:t>
            </a:r>
            <a:r>
              <a:rPr lang="es"/>
              <a:t>.</a:t>
            </a:r>
            <a:endParaRPr/>
          </a:p>
          <a:p>
            <a:pPr indent="-342900" lvl="0" marL="457200" rtl="0" algn="l">
              <a:spcBef>
                <a:spcPts val="0"/>
              </a:spcBef>
              <a:spcAft>
                <a:spcPts val="0"/>
              </a:spcAft>
              <a:buSzPts val="1800"/>
              <a:buChar char="●"/>
            </a:pPr>
            <a:r>
              <a:rPr lang="es"/>
              <a:t>Su principal beneficio es eliminar el costoso Shuffle de datos en la red.</a:t>
            </a:r>
            <a:endParaRPr/>
          </a:p>
          <a:p>
            <a:pPr indent="-342900" lvl="0" marL="457200" rtl="0" algn="l">
              <a:spcBef>
                <a:spcPts val="0"/>
              </a:spcBef>
              <a:spcAft>
                <a:spcPts val="0"/>
              </a:spcAft>
              <a:buSzPts val="1800"/>
              <a:buChar char="●"/>
            </a:pPr>
            <a:r>
              <a:rPr lang="es"/>
              <a:t>Se basa en la división de datos usando claves como el identificador de usuario (user_id).</a:t>
            </a:r>
            <a:endParaRPr/>
          </a:p>
        </p:txBody>
      </p:sp>
      <p:pic>
        <p:nvPicPr>
          <p:cNvPr id="277" name="Google Shape;277;p48"/>
          <p:cNvPicPr preferRelativeResize="0"/>
          <p:nvPr>
            <p:ph idx="2" type="pic"/>
          </p:nvPr>
        </p:nvPicPr>
        <p:blipFill>
          <a:blip r:embed="rId3">
            <a:alphaModFix/>
          </a:blip>
          <a:stretch>
            <a:fillRect/>
          </a:stretch>
        </p:blipFill>
        <p:spPr>
          <a:xfrm>
            <a:off x="5545950" y="1519300"/>
            <a:ext cx="3090600" cy="3090600"/>
          </a:xfrm>
          <a:prstGeom prst="roundRect">
            <a:avLst>
              <a:gd fmla="val 50000" name="adj"/>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83" name="Google Shape;283;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84" name="Google Shape;284;p49"/>
          <p:cNvSpPr txBox="1"/>
          <p:nvPr/>
        </p:nvSpPr>
        <p:spPr>
          <a:xfrm>
            <a:off x="228050" y="536600"/>
            <a:ext cx="8256000" cy="427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s"/>
              <a:t>CREATE EXTERNAL TABLE HTTP_DATA_2_BUCKETS (</a:t>
            </a:r>
            <a:endParaRPr/>
          </a:p>
          <a:p>
            <a:pPr indent="0" lvl="0" marL="0" rtl="0" algn="l">
              <a:spcBef>
                <a:spcPts val="0"/>
              </a:spcBef>
              <a:spcAft>
                <a:spcPts val="0"/>
              </a:spcAft>
              <a:buNone/>
            </a:pPr>
            <a:r>
              <a:rPr lang="es"/>
              <a:t>    seq INT,</a:t>
            </a:r>
            <a:endParaRPr/>
          </a:p>
          <a:p>
            <a:pPr indent="0" lvl="0" marL="0" rtl="0" algn="l">
              <a:spcBef>
                <a:spcPts val="0"/>
              </a:spcBef>
              <a:spcAft>
                <a:spcPts val="0"/>
              </a:spcAft>
              <a:buNone/>
            </a:pPr>
            <a:r>
              <a:rPr lang="es"/>
              <a:t>    id STRING,</a:t>
            </a:r>
            <a:endParaRPr/>
          </a:p>
          <a:p>
            <a:pPr indent="0" lvl="0" marL="0" rtl="0" algn="l">
              <a:spcBef>
                <a:spcPts val="0"/>
              </a:spcBef>
              <a:spcAft>
                <a:spcPts val="0"/>
              </a:spcAft>
              <a:buNone/>
            </a:pPr>
            <a:r>
              <a:rPr lang="es"/>
              <a:t>    visited TIMESTAMP,</a:t>
            </a:r>
            <a:endParaRPr/>
          </a:p>
          <a:p>
            <a:pPr indent="0" lvl="0" marL="0" rtl="0" algn="l">
              <a:spcBef>
                <a:spcPts val="0"/>
              </a:spcBef>
              <a:spcAft>
                <a:spcPts val="0"/>
              </a:spcAft>
              <a:buNone/>
            </a:pPr>
            <a:r>
              <a:rPr lang="es"/>
              <a:t>    logged_user STRING,</a:t>
            </a:r>
            <a:endParaRPr/>
          </a:p>
          <a:p>
            <a:pPr indent="0" lvl="0" marL="0" rtl="0" algn="l">
              <a:spcBef>
                <a:spcPts val="0"/>
              </a:spcBef>
              <a:spcAft>
                <a:spcPts val="0"/>
              </a:spcAft>
              <a:buNone/>
            </a:pPr>
            <a:r>
              <a:rPr lang="es"/>
              <a:t>    pc STRING,</a:t>
            </a:r>
            <a:endParaRPr/>
          </a:p>
          <a:p>
            <a:pPr indent="0" lvl="0" marL="0" rtl="0" algn="l">
              <a:spcBef>
                <a:spcPts val="0"/>
              </a:spcBef>
              <a:spcAft>
                <a:spcPts val="0"/>
              </a:spcAft>
              <a:buNone/>
            </a:pPr>
            <a:r>
              <a:rPr lang="es"/>
              <a:t>    url STRING,</a:t>
            </a:r>
            <a:endParaRPr/>
          </a:p>
          <a:p>
            <a:pPr indent="0" lvl="0" marL="0" rtl="0" algn="l">
              <a:spcBef>
                <a:spcPts val="0"/>
              </a:spcBef>
              <a:spcAft>
                <a:spcPts val="0"/>
              </a:spcAft>
              <a:buNone/>
            </a:pPr>
            <a:r>
              <a:rPr lang="es"/>
              <a:t>    content STRING,</a:t>
            </a:r>
            <a:endParaRPr/>
          </a:p>
          <a:p>
            <a:pPr indent="0" lvl="0" marL="0" rtl="0" algn="l">
              <a:spcBef>
                <a:spcPts val="0"/>
              </a:spcBef>
              <a:spcAft>
                <a:spcPts val="0"/>
              </a:spcAft>
              <a:buNone/>
            </a:pPr>
            <a:r>
              <a:rPr lang="es"/>
              <a:t>    sentimentd DOUBLE</a:t>
            </a:r>
            <a:endParaRPr/>
          </a:p>
          <a:p>
            <a:pPr indent="0" lvl="0" marL="0" rtl="0" algn="l">
              <a:spcBef>
                <a:spcPts val="0"/>
              </a:spcBef>
              <a:spcAft>
                <a:spcPts val="0"/>
              </a:spcAft>
              <a:buNone/>
            </a:pPr>
            <a:r>
              <a:rPr lang="es"/>
              <a:t>)</a:t>
            </a:r>
            <a:endParaRPr/>
          </a:p>
          <a:p>
            <a:pPr indent="0" lvl="0" marL="0" rtl="0" algn="l">
              <a:spcBef>
                <a:spcPts val="0"/>
              </a:spcBef>
              <a:spcAft>
                <a:spcPts val="0"/>
              </a:spcAft>
              <a:buNone/>
            </a:pPr>
            <a:r>
              <a:rPr lang="es"/>
              <a:t>CLUSTERED BY (pc) SORTED BY (visited) INTO 30 BUCKETS</a:t>
            </a:r>
            <a:endParaRPr/>
          </a:p>
          <a:p>
            <a:pPr indent="0" lvl="0" marL="0" rtl="0" algn="l">
              <a:spcBef>
                <a:spcPts val="0"/>
              </a:spcBef>
              <a:spcAft>
                <a:spcPts val="0"/>
              </a:spcAft>
              <a:buNone/>
            </a:pPr>
            <a:r>
              <a:rPr lang="es"/>
              <a:t>STORED AS PARQUET</a:t>
            </a:r>
            <a:endParaRPr/>
          </a:p>
          <a:p>
            <a:pPr indent="0" lvl="0" marL="0" rtl="0" algn="l">
              <a:spcBef>
                <a:spcPts val="0"/>
              </a:spcBef>
              <a:spcAft>
                <a:spcPts val="0"/>
              </a:spcAft>
              <a:buNone/>
            </a:pPr>
            <a:r>
              <a:rPr lang="es"/>
              <a:t>LOCATION 'gs://big-data-lunes-20260223/http_sentiment_bucketed'</a:t>
            </a:r>
            <a:endParaRPr/>
          </a:p>
          <a:p>
            <a:pPr indent="0" lvl="0" marL="0" rtl="0" algn="l">
              <a:spcBef>
                <a:spcPts val="0"/>
              </a:spcBef>
              <a:spcAft>
                <a:spcPts val="0"/>
              </a:spcAft>
              <a:buNone/>
            </a:pPr>
            <a:r>
              <a:rPr lang="e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INSERT INTO HTTP_DATA_2_BUCKETS SELECT seq, id, visited, logged_user, pc, url, content, sentiment from HTTP_DATA_2;</a:t>
            </a:r>
            <a:endParaRPr/>
          </a:p>
          <a:p>
            <a:pPr indent="0" lvl="0" marL="0" rtl="0" algn="l">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50"/>
          <p:cNvSpPr txBox="1"/>
          <p:nvPr>
            <p:ph type="title"/>
          </p:nvPr>
        </p:nvSpPr>
        <p:spPr>
          <a:xfrm>
            <a:off x="507450" y="331400"/>
            <a:ext cx="8129100" cy="7962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t/>
            </a:r>
            <a:endParaRPr/>
          </a:p>
        </p:txBody>
      </p:sp>
      <p:sp>
        <p:nvSpPr>
          <p:cNvPr id="290" name="Google Shape;290;p50"/>
          <p:cNvSpPr txBox="1"/>
          <p:nvPr>
            <p:ph idx="1" type="body"/>
          </p:nvPr>
        </p:nvSpPr>
        <p:spPr>
          <a:xfrm>
            <a:off x="507456" y="1519301"/>
            <a:ext cx="4782300" cy="30906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t/>
            </a:r>
            <a:endParaRPr/>
          </a:p>
        </p:txBody>
      </p:sp>
      <p:sp>
        <p:nvSpPr>
          <p:cNvPr id="291" name="Google Shape;291;p50"/>
          <p:cNvSpPr/>
          <p:nvPr>
            <p:ph idx="2" type="pic"/>
          </p:nvPr>
        </p:nvSpPr>
        <p:spPr>
          <a:xfrm>
            <a:off x="5545950" y="1519300"/>
            <a:ext cx="3090600" cy="3090600"/>
          </a:xfrm>
          <a:prstGeom prst="roundRect">
            <a:avLst>
              <a:gd fmla="val 16667" name="adj"/>
            </a:avLst>
          </a:prstGeom>
        </p:spPr>
      </p:sp>
      <p:pic>
        <p:nvPicPr>
          <p:cNvPr id="292" name="Google Shape;292;p50"/>
          <p:cNvPicPr preferRelativeResize="0"/>
          <p:nvPr/>
        </p:nvPicPr>
        <p:blipFill>
          <a:blip r:embed="rId3">
            <a:alphaModFix/>
          </a:blip>
          <a:stretch>
            <a:fillRect/>
          </a:stretch>
        </p:blipFill>
        <p:spPr>
          <a:xfrm>
            <a:off x="-53145" y="751255"/>
            <a:ext cx="9250301" cy="397962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51"/>
          <p:cNvSpPr txBox="1"/>
          <p:nvPr>
            <p:ph type="title"/>
          </p:nvPr>
        </p:nvSpPr>
        <p:spPr>
          <a:xfrm>
            <a:off x="507450" y="331400"/>
            <a:ext cx="8129100" cy="7962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t/>
            </a:r>
            <a:endParaRPr/>
          </a:p>
        </p:txBody>
      </p:sp>
      <p:sp>
        <p:nvSpPr>
          <p:cNvPr id="298" name="Google Shape;298;p51"/>
          <p:cNvSpPr txBox="1"/>
          <p:nvPr>
            <p:ph idx="1" type="body"/>
          </p:nvPr>
        </p:nvSpPr>
        <p:spPr>
          <a:xfrm>
            <a:off x="507456" y="1519301"/>
            <a:ext cx="4782300" cy="30906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t/>
            </a:r>
            <a:endParaRPr/>
          </a:p>
        </p:txBody>
      </p:sp>
      <p:sp>
        <p:nvSpPr>
          <p:cNvPr id="299" name="Google Shape;299;p51"/>
          <p:cNvSpPr/>
          <p:nvPr>
            <p:ph idx="2" type="pic"/>
          </p:nvPr>
        </p:nvSpPr>
        <p:spPr>
          <a:xfrm>
            <a:off x="5545950" y="1519300"/>
            <a:ext cx="3090600" cy="3090600"/>
          </a:xfrm>
          <a:prstGeom prst="roundRect">
            <a:avLst>
              <a:gd fmla="val 16667" name="adj"/>
            </a:avLst>
          </a:prstGeom>
        </p:spPr>
      </p:sp>
      <p:pic>
        <p:nvPicPr>
          <p:cNvPr descr="haz un diagrama de como funciona este query &#10;CREATE EXTERNAL TABLE HTTP_DATA_2_BUCKETS (&#10;    seq INT,&#10;    id STRING,&#10;    visited TIMESTAMP,&#10;    logged_user STRING,&#10;    pc STRING,&#10;    url STRING,&#10;    content STRING,&#10;    sentimentd DOUBLE&#10;)&#10;CLUSTERED BY (pc) SORTED BY (visited) INTO 30 BUCKETS&#10;STORED AS PARQUET&#10;LOCATION 'gs://big-data-lunes-20260223/http_sentiment_bucketed'&#10;;&#10;&#10;INSERT INTO HTTP_DATA_2_BUCKETS SELECT seq, id, visited, logged_user, pc, url, content, sentiment from HTTP_DATA_2;&#10;" id="300" name="Google Shape;300;p51"/>
          <p:cNvPicPr preferRelativeResize="0"/>
          <p:nvPr/>
        </p:nvPicPr>
        <p:blipFill>
          <a:blip r:embed="rId3">
            <a:alphaModFix/>
          </a:blip>
          <a:stretch>
            <a:fillRect/>
          </a:stretch>
        </p:blipFill>
        <p:spPr>
          <a:xfrm>
            <a:off x="2133600" y="133350"/>
            <a:ext cx="4876800" cy="48768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pic>
        <p:nvPicPr>
          <p:cNvPr id="305" name="Google Shape;305;p52"/>
          <p:cNvPicPr preferRelativeResize="0"/>
          <p:nvPr/>
        </p:nvPicPr>
        <p:blipFill>
          <a:blip r:embed="rId3">
            <a:alphaModFix/>
          </a:blip>
          <a:stretch>
            <a:fillRect/>
          </a:stretch>
        </p:blipFill>
        <p:spPr>
          <a:xfrm>
            <a:off x="152400" y="581675"/>
            <a:ext cx="8839201" cy="349008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Un Qry mas interesante</a:t>
            </a:r>
            <a:endParaRPr/>
          </a:p>
        </p:txBody>
      </p:sp>
      <p:sp>
        <p:nvSpPr>
          <p:cNvPr id="311" name="Google Shape;311;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12" name="Google Shape;312;p53"/>
          <p:cNvSpPr txBox="1"/>
          <p:nvPr/>
        </p:nvSpPr>
        <p:spPr>
          <a:xfrm>
            <a:off x="254900" y="1017725"/>
            <a:ext cx="80277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 Consolidamos el sentimiento promedio por usuario para cruzarlo con sus correos</a:t>
            </a:r>
            <a:endParaRPr/>
          </a:p>
          <a:p>
            <a:pPr indent="0" lvl="0" marL="0" rtl="0" algn="l">
              <a:spcBef>
                <a:spcPts val="0"/>
              </a:spcBef>
              <a:spcAft>
                <a:spcPts val="0"/>
              </a:spcAft>
              <a:buNone/>
            </a:pPr>
            <a:r>
              <a:rPr lang="es"/>
              <a:t>WITH web_resumen AS (</a:t>
            </a:r>
            <a:endParaRPr/>
          </a:p>
          <a:p>
            <a:pPr indent="0" lvl="0" marL="0" rtl="0" algn="l">
              <a:spcBef>
                <a:spcPts val="0"/>
              </a:spcBef>
              <a:spcAft>
                <a:spcPts val="0"/>
              </a:spcAft>
              <a:buNone/>
            </a:pPr>
            <a:r>
              <a:rPr lang="es"/>
              <a:t>    SELECT </a:t>
            </a:r>
            <a:endParaRPr/>
          </a:p>
          <a:p>
            <a:pPr indent="0" lvl="0" marL="0" rtl="0" algn="l">
              <a:spcBef>
                <a:spcPts val="0"/>
              </a:spcBef>
              <a:spcAft>
                <a:spcPts val="0"/>
              </a:spcAft>
              <a:buNone/>
            </a:pPr>
            <a:r>
              <a:rPr lang="es"/>
              <a:t>        logged_user, </a:t>
            </a:r>
            <a:endParaRPr/>
          </a:p>
          <a:p>
            <a:pPr indent="0" lvl="0" marL="0" rtl="0" algn="l">
              <a:spcBef>
                <a:spcPts val="0"/>
              </a:spcBef>
              <a:spcAft>
                <a:spcPts val="0"/>
              </a:spcAft>
              <a:buNone/>
            </a:pPr>
            <a:r>
              <a:rPr lang="es"/>
              <a:t>        AVG(sentiment) as avg_sentiment,</a:t>
            </a:r>
            <a:endParaRPr/>
          </a:p>
          <a:p>
            <a:pPr indent="0" lvl="0" marL="0" rtl="0" algn="l">
              <a:spcBef>
                <a:spcPts val="0"/>
              </a:spcBef>
              <a:spcAft>
                <a:spcPts val="0"/>
              </a:spcAft>
              <a:buNone/>
            </a:pPr>
            <a:r>
              <a:rPr lang="es"/>
              <a:t>        COUNT(url) as total_visitas</a:t>
            </a:r>
            <a:endParaRPr/>
          </a:p>
          <a:p>
            <a:pPr indent="0" lvl="0" marL="0" rtl="0" algn="l">
              <a:spcBef>
                <a:spcPts val="0"/>
              </a:spcBef>
              <a:spcAft>
                <a:spcPts val="0"/>
              </a:spcAft>
              <a:buNone/>
            </a:pPr>
            <a:r>
              <a:rPr lang="es"/>
              <a:t>    FROM HTTP_DATA_PARTITIONED</a:t>
            </a:r>
            <a:endParaRPr/>
          </a:p>
          <a:p>
            <a:pPr indent="0" lvl="0" marL="0" rtl="0" algn="l">
              <a:spcBef>
                <a:spcPts val="0"/>
              </a:spcBef>
              <a:spcAft>
                <a:spcPts val="0"/>
              </a:spcAft>
              <a:buNone/>
            </a:pPr>
            <a:r>
              <a:rPr lang="es"/>
              <a:t>    GROUP BY logged_user</a:t>
            </a:r>
            <a:endParaRPr/>
          </a:p>
          <a:p>
            <a:pPr indent="0" lvl="0" marL="0" rtl="0" algn="l">
              <a:spcBef>
                <a:spcPts val="0"/>
              </a:spcBef>
              <a:spcAft>
                <a:spcPts val="0"/>
              </a:spcAft>
              <a:buNone/>
            </a:pPr>
            <a:r>
              <a:rPr lang="es"/>
              <a:t>)</a:t>
            </a:r>
            <a:endParaRPr/>
          </a:p>
          <a:p>
            <a:pPr indent="0" lvl="0" marL="0" rtl="0" algn="l">
              <a:spcBef>
                <a:spcPts val="0"/>
              </a:spcBef>
              <a:spcAft>
                <a:spcPts val="0"/>
              </a:spcAft>
              <a:buNone/>
            </a:pPr>
            <a:r>
              <a:rPr lang="es"/>
              <a:t>SELECT </a:t>
            </a:r>
            <a:endParaRPr/>
          </a:p>
          <a:p>
            <a:pPr indent="0" lvl="0" marL="0" rtl="0" algn="l">
              <a:spcBef>
                <a:spcPts val="0"/>
              </a:spcBef>
              <a:spcAft>
                <a:spcPts val="0"/>
              </a:spcAft>
              <a:buNone/>
            </a:pPr>
            <a:r>
              <a:rPr lang="es"/>
              <a:t>    e.logged_user, </a:t>
            </a:r>
            <a:endParaRPr/>
          </a:p>
          <a:p>
            <a:pPr indent="0" lvl="0" marL="0" rtl="0" algn="l">
              <a:spcBef>
                <a:spcPts val="0"/>
              </a:spcBef>
              <a:spcAft>
                <a:spcPts val="0"/>
              </a:spcAft>
              <a:buNone/>
            </a:pPr>
            <a:r>
              <a:rPr lang="es"/>
              <a:t>    e.from_mail, </a:t>
            </a:r>
            <a:endParaRPr/>
          </a:p>
          <a:p>
            <a:pPr indent="0" lvl="0" marL="0" rtl="0" algn="l">
              <a:spcBef>
                <a:spcPts val="0"/>
              </a:spcBef>
              <a:spcAft>
                <a:spcPts val="0"/>
              </a:spcAft>
              <a:buNone/>
            </a:pPr>
            <a:r>
              <a:rPr lang="es"/>
              <a:t>    e.to_mail, </a:t>
            </a:r>
            <a:endParaRPr/>
          </a:p>
          <a:p>
            <a:pPr indent="0" lvl="0" marL="0" rtl="0" algn="l">
              <a:spcBef>
                <a:spcPts val="0"/>
              </a:spcBef>
              <a:spcAft>
                <a:spcPts val="0"/>
              </a:spcAft>
              <a:buNone/>
            </a:pPr>
            <a:r>
              <a:rPr lang="es"/>
              <a:t>    w.avg_sentiment,</a:t>
            </a:r>
            <a:endParaRPr/>
          </a:p>
          <a:p>
            <a:pPr indent="0" lvl="0" marL="0" rtl="0" algn="l">
              <a:spcBef>
                <a:spcPts val="0"/>
              </a:spcBef>
              <a:spcAft>
                <a:spcPts val="0"/>
              </a:spcAft>
              <a:buNone/>
            </a:pPr>
            <a:r>
              <a:rPr lang="es"/>
              <a:t>    w.total_visitas</a:t>
            </a:r>
            <a:endParaRPr/>
          </a:p>
          <a:p>
            <a:pPr indent="0" lvl="0" marL="0" rtl="0" algn="l">
              <a:spcBef>
                <a:spcPts val="0"/>
              </a:spcBef>
              <a:spcAft>
                <a:spcPts val="0"/>
              </a:spcAft>
              <a:buNone/>
            </a:pPr>
            <a:r>
              <a:rPr lang="es"/>
              <a:t>FROM EMAIL e</a:t>
            </a:r>
            <a:endParaRPr/>
          </a:p>
          <a:p>
            <a:pPr indent="0" lvl="0" marL="0" rtl="0" algn="l">
              <a:spcBef>
                <a:spcPts val="0"/>
              </a:spcBef>
              <a:spcAft>
                <a:spcPts val="0"/>
              </a:spcAft>
              <a:buNone/>
            </a:pPr>
            <a:r>
              <a:rPr lang="es"/>
              <a:t>JOIN web_resumen w ON e.logged_user = w.logged_user</a:t>
            </a:r>
            <a:endParaRPr/>
          </a:p>
          <a:p>
            <a:pPr indent="0" lvl="0" marL="0" rtl="0" algn="l">
              <a:spcBef>
                <a:spcPts val="0"/>
              </a:spcBef>
              <a:spcAft>
                <a:spcPts val="0"/>
              </a:spcAft>
              <a:buNone/>
            </a:pPr>
            <a:r>
              <a:rPr lang="es"/>
              <a:t>WHERE w.avg_sentiment &lt; 0.5;</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54"/>
          <p:cNvSpPr txBox="1"/>
          <p:nvPr>
            <p:ph type="title"/>
          </p:nvPr>
        </p:nvSpPr>
        <p:spPr>
          <a:xfrm>
            <a:off x="507450" y="331400"/>
            <a:ext cx="8129100" cy="7962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s"/>
              <a:t>BigQuery: Motor de Decisiones</a:t>
            </a:r>
            <a:endParaRPr/>
          </a:p>
        </p:txBody>
      </p:sp>
      <p:sp>
        <p:nvSpPr>
          <p:cNvPr id="317" name="Google Shape;317;p54"/>
          <p:cNvSpPr txBox="1"/>
          <p:nvPr>
            <p:ph idx="1" type="body"/>
          </p:nvPr>
        </p:nvSpPr>
        <p:spPr>
          <a:xfrm>
            <a:off x="507456" y="1519301"/>
            <a:ext cx="4782300" cy="3090600"/>
          </a:xfrm>
          <a:prstGeom prst="rect">
            <a:avLst/>
          </a:prstGeom>
        </p:spPr>
        <p:txBody>
          <a:bodyPr anchorCtr="0" anchor="t" bIns="0" lIns="0" spcFirstLastPara="1" rIns="0" wrap="square" tIns="0">
            <a:normAutofit/>
          </a:bodyPr>
          <a:lstStyle/>
          <a:p>
            <a:pPr indent="-342900" lvl="0" marL="457200" rtl="0" algn="l">
              <a:spcBef>
                <a:spcPts val="0"/>
              </a:spcBef>
              <a:spcAft>
                <a:spcPts val="0"/>
              </a:spcAft>
              <a:buSzPts val="1800"/>
              <a:buChar char="●"/>
            </a:pPr>
            <a:r>
              <a:rPr lang="es"/>
              <a:t>Análisis ad-hoc de sentimientos ya procesados en Dataproc.</a:t>
            </a:r>
            <a:endParaRPr/>
          </a:p>
          <a:p>
            <a:pPr indent="-342900" lvl="0" marL="457200" rtl="0" algn="l">
              <a:spcBef>
                <a:spcPts val="0"/>
              </a:spcBef>
              <a:spcAft>
                <a:spcPts val="0"/>
              </a:spcAft>
              <a:buSzPts val="1800"/>
              <a:buChar char="●"/>
            </a:pPr>
            <a:r>
              <a:rPr lang="es"/>
              <a:t>Consultas federadas conectan BigQuery a archivos en Cloud Storage.</a:t>
            </a:r>
            <a:endParaRPr/>
          </a:p>
          <a:p>
            <a:pPr indent="-342900" lvl="0" marL="457200" rtl="0" algn="l">
              <a:spcBef>
                <a:spcPts val="0"/>
              </a:spcBef>
              <a:spcAft>
                <a:spcPts val="0"/>
              </a:spcAft>
              <a:buSzPts val="1800"/>
              <a:buChar char="●"/>
            </a:pPr>
            <a:r>
              <a:rPr lang="es"/>
              <a:t>Ejecuta sentencias SQL sobre petabytes de datos en segundos.</a:t>
            </a:r>
            <a:endParaRPr/>
          </a:p>
          <a:p>
            <a:pPr indent="0" lvl="0" marL="0" rtl="0" algn="l">
              <a:spcBef>
                <a:spcPts val="1200"/>
              </a:spcBef>
              <a:spcAft>
                <a:spcPts val="1200"/>
              </a:spcAft>
              <a:buNone/>
            </a:pPr>
            <a:r>
              <a:t/>
            </a:r>
            <a:endParaRPr/>
          </a:p>
        </p:txBody>
      </p:sp>
      <p:pic>
        <p:nvPicPr>
          <p:cNvPr id="318" name="Google Shape;318;p54"/>
          <p:cNvPicPr preferRelativeResize="0"/>
          <p:nvPr>
            <p:ph idx="2" type="pic"/>
          </p:nvPr>
        </p:nvPicPr>
        <p:blipFill rotWithShape="1">
          <a:blip r:embed="rId3">
            <a:alphaModFix/>
          </a:blip>
          <a:srcRect b="-18796" l="-25903" r="-19130" t="-30614"/>
          <a:stretch/>
        </p:blipFill>
        <p:spPr>
          <a:xfrm>
            <a:off x="4745400" y="573275"/>
            <a:ext cx="4482900" cy="4618200"/>
          </a:xfrm>
          <a:prstGeom prst="roundRect">
            <a:avLst>
              <a:gd fmla="val 50000" name="adj"/>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5"/>
          <p:cNvSpPr txBox="1"/>
          <p:nvPr>
            <p:ph type="title"/>
          </p:nvPr>
        </p:nvSpPr>
        <p:spPr>
          <a:xfrm>
            <a:off x="5427950" y="289525"/>
            <a:ext cx="3405900" cy="1093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s"/>
              <a:t>Hive vs BigQuery</a:t>
            </a:r>
            <a:endParaRPr/>
          </a:p>
        </p:txBody>
      </p:sp>
      <p:sp>
        <p:nvSpPr>
          <p:cNvPr id="323" name="Google Shape;323;p55"/>
          <p:cNvSpPr txBox="1"/>
          <p:nvPr>
            <p:ph idx="1" type="body"/>
          </p:nvPr>
        </p:nvSpPr>
        <p:spPr>
          <a:xfrm>
            <a:off x="5427950" y="1565672"/>
            <a:ext cx="3405900" cy="3288300"/>
          </a:xfrm>
          <a:prstGeom prst="rect">
            <a:avLst/>
          </a:prstGeom>
        </p:spPr>
        <p:txBody>
          <a:bodyPr anchorCtr="0" anchor="t" bIns="0" lIns="0" spcFirstLastPara="1" rIns="0" wrap="square" tIns="0">
            <a:normAutofit fontScale="70000"/>
          </a:bodyPr>
          <a:lstStyle/>
          <a:p>
            <a:pPr indent="-308610" lvl="0" marL="457200" rtl="0" algn="l">
              <a:spcBef>
                <a:spcPts val="0"/>
              </a:spcBef>
              <a:spcAft>
                <a:spcPts val="0"/>
              </a:spcAft>
              <a:buSzPct val="100000"/>
              <a:buChar char="●"/>
            </a:pPr>
            <a:r>
              <a:rPr lang="es"/>
              <a:t>La arquitectura de Hive requiere gestionar el clúster y nodos..</a:t>
            </a:r>
            <a:endParaRPr/>
          </a:p>
          <a:p>
            <a:pPr indent="-308610" lvl="0" marL="457200" rtl="0" algn="l">
              <a:spcBef>
                <a:spcPts val="0"/>
              </a:spcBef>
              <a:spcAft>
                <a:spcPts val="0"/>
              </a:spcAft>
              <a:buSzPct val="100000"/>
              <a:buChar char="●"/>
            </a:pPr>
            <a:r>
              <a:rPr lang="es"/>
              <a:t>BigQuery tiene una arquitectura serverless sin infraestructura que gestionar.</a:t>
            </a:r>
            <a:endParaRPr/>
          </a:p>
          <a:p>
            <a:pPr indent="-308610" lvl="0" marL="457200" rtl="0" algn="l">
              <a:spcBef>
                <a:spcPts val="0"/>
              </a:spcBef>
              <a:spcAft>
                <a:spcPts val="0"/>
              </a:spcAft>
              <a:buSzPct val="100000"/>
              <a:buChar char="●"/>
            </a:pPr>
            <a:r>
              <a:rPr lang="es"/>
              <a:t>Los costos de Hive se basan en el tiempo de clúster activo (máquinas).</a:t>
            </a:r>
            <a:endParaRPr/>
          </a:p>
          <a:p>
            <a:pPr indent="-308610" lvl="0" marL="457200" rtl="0" algn="l">
              <a:spcBef>
                <a:spcPts val="0"/>
              </a:spcBef>
              <a:spcAft>
                <a:spcPts val="0"/>
              </a:spcAft>
              <a:buSzPct val="100000"/>
              <a:buChar char="●"/>
            </a:pPr>
            <a:r>
              <a:rPr lang="es"/>
              <a:t>BigQuery cobra por la cantidad de datos procesados (TB) o capacidad reservada.</a:t>
            </a:r>
            <a:endParaRPr/>
          </a:p>
          <a:p>
            <a:pPr indent="-308610" lvl="0" marL="457200" rtl="0" algn="l">
              <a:spcBef>
                <a:spcPts val="0"/>
              </a:spcBef>
              <a:spcAft>
                <a:spcPts val="0"/>
              </a:spcAft>
              <a:buSzPct val="100000"/>
              <a:buChar char="●"/>
            </a:pPr>
            <a:r>
              <a:rPr lang="es"/>
              <a:t>El almacenamiento de Hive es externo (Cloud Storage) o HDFS.</a:t>
            </a:r>
            <a:endParaRPr/>
          </a:p>
          <a:p>
            <a:pPr indent="-308610" lvl="0" marL="457200" rtl="0" algn="l">
              <a:spcBef>
                <a:spcPts val="0"/>
              </a:spcBef>
              <a:spcAft>
                <a:spcPts val="0"/>
              </a:spcAft>
              <a:buSzPct val="100000"/>
              <a:buChar char="●"/>
            </a:pPr>
            <a:r>
              <a:rPr lang="es"/>
              <a:t>BigQuery usa almacenamiento interno (formato Capacitor) o tablas externas.</a:t>
            </a:r>
            <a:endParaRPr/>
          </a:p>
          <a:p>
            <a:pPr indent="-308610" lvl="0" marL="457200" rtl="0" algn="l">
              <a:spcBef>
                <a:spcPts val="0"/>
              </a:spcBef>
              <a:spcAft>
                <a:spcPts val="0"/>
              </a:spcAft>
              <a:buSzPct val="100000"/>
              <a:buChar char="●"/>
            </a:pPr>
            <a:r>
              <a:rPr lang="es"/>
              <a:t>Hive es ideal para ETL pesado y procesamiento por lotes (batch).</a:t>
            </a:r>
            <a:endParaRPr/>
          </a:p>
        </p:txBody>
      </p:sp>
      <p:pic>
        <p:nvPicPr>
          <p:cNvPr id="324" name="Google Shape;324;p55"/>
          <p:cNvPicPr preferRelativeResize="0"/>
          <p:nvPr>
            <p:ph idx="2" type="pic"/>
          </p:nvPr>
        </p:nvPicPr>
        <p:blipFill>
          <a:blip r:embed="rId3">
            <a:alphaModFix/>
          </a:blip>
          <a:stretch>
            <a:fillRect/>
          </a:stretch>
        </p:blipFill>
        <p:spPr>
          <a:xfrm>
            <a:off x="0" y="0"/>
            <a:ext cx="5148000" cy="51435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6"/>
          <p:cNvSpPr txBox="1"/>
          <p:nvPr>
            <p:ph type="title"/>
          </p:nvPr>
        </p:nvSpPr>
        <p:spPr>
          <a:xfrm>
            <a:off x="327575" y="289525"/>
            <a:ext cx="3548100" cy="1093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s"/>
              <a:t>Cuándo Usar Hive</a:t>
            </a:r>
            <a:endParaRPr/>
          </a:p>
        </p:txBody>
      </p:sp>
      <p:sp>
        <p:nvSpPr>
          <p:cNvPr id="329" name="Google Shape;329;p56"/>
          <p:cNvSpPr txBox="1"/>
          <p:nvPr>
            <p:ph idx="1" type="body"/>
          </p:nvPr>
        </p:nvSpPr>
        <p:spPr>
          <a:xfrm>
            <a:off x="327575" y="1565671"/>
            <a:ext cx="3548100" cy="3288300"/>
          </a:xfrm>
          <a:prstGeom prst="rect">
            <a:avLst/>
          </a:prstGeom>
        </p:spPr>
        <p:txBody>
          <a:bodyPr anchorCtr="0" anchor="t" bIns="0" lIns="0" spcFirstLastPara="1" rIns="0" wrap="square" tIns="0">
            <a:normAutofit fontScale="92500"/>
          </a:bodyPr>
          <a:lstStyle/>
          <a:p>
            <a:pPr indent="-334328" lvl="0" marL="457200" rtl="0" algn="l">
              <a:spcBef>
                <a:spcPts val="0"/>
              </a:spcBef>
              <a:spcAft>
                <a:spcPts val="0"/>
              </a:spcAft>
              <a:buSzPct val="100000"/>
              <a:buChar char="●"/>
            </a:pPr>
            <a:r>
              <a:rPr lang="es"/>
              <a:t>Hive permite optimizar el almacenamiento con Partitioning y Bucketing.</a:t>
            </a:r>
            <a:endParaRPr/>
          </a:p>
          <a:p>
            <a:pPr indent="-334328" lvl="0" marL="457200" rtl="0" algn="l">
              <a:spcBef>
                <a:spcPts val="0"/>
              </a:spcBef>
              <a:spcAft>
                <a:spcPts val="0"/>
              </a:spcAft>
              <a:buSzPct val="100000"/>
              <a:buChar char="●"/>
            </a:pPr>
            <a:r>
              <a:rPr lang="es"/>
              <a:t>Es ideal para la limpieza inicial de texto multilínea complejo.</a:t>
            </a:r>
            <a:endParaRPr/>
          </a:p>
          <a:p>
            <a:pPr indent="-334328" lvl="0" marL="457200" rtl="0" algn="l">
              <a:spcBef>
                <a:spcPts val="0"/>
              </a:spcBef>
              <a:spcAft>
                <a:spcPts val="0"/>
              </a:spcAft>
              <a:buSzPct val="100000"/>
              <a:buChar char="●"/>
            </a:pPr>
            <a:r>
              <a:rPr lang="es"/>
              <a:t>Usar Hive en Dataproc es económico para el procesamiento pesado por lotes.</a:t>
            </a:r>
            <a:endParaRPr/>
          </a:p>
          <a:p>
            <a:pPr indent="-334328" lvl="0" marL="457200" rtl="0" algn="l">
              <a:spcBef>
                <a:spcPts val="0"/>
              </a:spcBef>
              <a:spcAft>
                <a:spcPts val="0"/>
              </a:spcAft>
              <a:buSzPct val="100000"/>
              <a:buChar char="●"/>
            </a:pPr>
            <a:r>
              <a:rPr lang="es"/>
              <a:t>Hive con Spark agiliza el procesamiento de datos al optimizar su físico.</a:t>
            </a:r>
            <a:endParaRPr/>
          </a:p>
        </p:txBody>
      </p:sp>
      <p:pic>
        <p:nvPicPr>
          <p:cNvPr id="330" name="Google Shape;330;p56"/>
          <p:cNvPicPr preferRelativeResize="0"/>
          <p:nvPr>
            <p:ph idx="2" type="pic"/>
          </p:nvPr>
        </p:nvPicPr>
        <p:blipFill>
          <a:blip r:embed="rId3">
            <a:alphaModFix/>
          </a:blip>
          <a:stretch>
            <a:fillRect/>
          </a:stretch>
        </p:blipFill>
        <p:spPr>
          <a:xfrm>
            <a:off x="4298349" y="316350"/>
            <a:ext cx="4510800" cy="4510800"/>
          </a:xfrm>
          <a:prstGeom prst="roundRect">
            <a:avLst>
              <a:gd fmla="val 50000" name="adj"/>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7"/>
          <p:cNvSpPr txBox="1"/>
          <p:nvPr>
            <p:ph type="title"/>
          </p:nvPr>
        </p:nvSpPr>
        <p:spPr>
          <a:xfrm>
            <a:off x="5145700" y="226400"/>
            <a:ext cx="3651900" cy="10944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s"/>
              <a:t>Cuándo usar BigQuery</a:t>
            </a:r>
            <a:endParaRPr/>
          </a:p>
        </p:txBody>
      </p:sp>
      <p:sp>
        <p:nvSpPr>
          <p:cNvPr id="335" name="Google Shape;335;p57"/>
          <p:cNvSpPr txBox="1"/>
          <p:nvPr>
            <p:ph idx="1" type="body"/>
          </p:nvPr>
        </p:nvSpPr>
        <p:spPr>
          <a:xfrm>
            <a:off x="5145700" y="1598500"/>
            <a:ext cx="3651900" cy="3318600"/>
          </a:xfrm>
          <a:prstGeom prst="rect">
            <a:avLst/>
          </a:prstGeom>
          <a:ln>
            <a:noFill/>
          </a:ln>
        </p:spPr>
        <p:txBody>
          <a:bodyPr anchorCtr="0" anchor="t" bIns="0" lIns="0" spcFirstLastPara="1" rIns="0" wrap="square" tIns="0">
            <a:normAutofit fontScale="92500"/>
          </a:bodyPr>
          <a:lstStyle/>
          <a:p>
            <a:pPr indent="-334328" lvl="0" marL="457200" rtl="0" algn="l">
              <a:spcBef>
                <a:spcPts val="0"/>
              </a:spcBef>
              <a:spcAft>
                <a:spcPts val="0"/>
              </a:spcAft>
              <a:buSzPct val="100000"/>
              <a:buChar char="●"/>
            </a:pPr>
            <a:r>
              <a:rPr lang="es"/>
              <a:t>BigQuery es ideal para analistas que saben SQL [cite: user].</a:t>
            </a:r>
            <a:endParaRPr/>
          </a:p>
          <a:p>
            <a:pPr indent="-334328" lvl="0" marL="457200" rtl="0" algn="l">
              <a:spcBef>
                <a:spcPts val="0"/>
              </a:spcBef>
              <a:spcAft>
                <a:spcPts val="0"/>
              </a:spcAft>
              <a:buSzPct val="100000"/>
              <a:buChar char="●"/>
            </a:pPr>
            <a:r>
              <a:rPr lang="es"/>
              <a:t>No se requiere conocimiento de Java o Python para consultarlo [cite: user].</a:t>
            </a:r>
            <a:endParaRPr/>
          </a:p>
          <a:p>
            <a:pPr indent="-334328" lvl="0" marL="457200" rtl="0" algn="l">
              <a:spcBef>
                <a:spcPts val="0"/>
              </a:spcBef>
              <a:spcAft>
                <a:spcPts val="0"/>
              </a:spcAft>
              <a:buSzPct val="100000"/>
              <a:buChar char="●"/>
            </a:pPr>
            <a:r>
              <a:rPr lang="es"/>
              <a:t>Utilizar consultas federadas para leer tablas Hive en Cloud Storage [cite: user].</a:t>
            </a:r>
            <a:endParaRPr/>
          </a:p>
          <a:p>
            <a:pPr indent="-334328" lvl="0" marL="457200" rtl="0" algn="l">
              <a:spcBef>
                <a:spcPts val="0"/>
              </a:spcBef>
              <a:spcAft>
                <a:spcPts val="0"/>
              </a:spcAft>
              <a:buSzPct val="100000"/>
              <a:buChar char="●"/>
            </a:pPr>
            <a:r>
              <a:rPr lang="es"/>
              <a:t>BigQuery escala automáticamente con muchos usuarios concurrentes [cite: user].</a:t>
            </a:r>
            <a:endParaRPr/>
          </a:p>
        </p:txBody>
      </p:sp>
      <p:pic>
        <p:nvPicPr>
          <p:cNvPr id="336" name="Google Shape;336;p57"/>
          <p:cNvPicPr preferRelativeResize="0"/>
          <p:nvPr>
            <p:ph idx="2" type="pic"/>
          </p:nvPr>
        </p:nvPicPr>
        <p:blipFill>
          <a:blip r:embed="rId3">
            <a:alphaModFix/>
          </a:blip>
          <a:stretch>
            <a:fillRect/>
          </a:stretch>
        </p:blipFill>
        <p:spPr>
          <a:xfrm>
            <a:off x="204047" y="226350"/>
            <a:ext cx="4690800" cy="4690800"/>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8"/>
          <p:cNvSpPr txBox="1"/>
          <p:nvPr>
            <p:ph type="title"/>
          </p:nvPr>
        </p:nvSpPr>
        <p:spPr>
          <a:xfrm>
            <a:off x="507450" y="331400"/>
            <a:ext cx="8129100" cy="7962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s"/>
              <a:t>Alternativas: Hive y BQ</a:t>
            </a:r>
            <a:endParaRPr/>
          </a:p>
        </p:txBody>
      </p:sp>
      <p:sp>
        <p:nvSpPr>
          <p:cNvPr id="341" name="Google Shape;341;p58"/>
          <p:cNvSpPr txBox="1"/>
          <p:nvPr>
            <p:ph idx="1" type="body"/>
          </p:nvPr>
        </p:nvSpPr>
        <p:spPr>
          <a:xfrm>
            <a:off x="507456" y="1519301"/>
            <a:ext cx="4782300" cy="3090600"/>
          </a:xfrm>
          <a:prstGeom prst="rect">
            <a:avLst/>
          </a:prstGeom>
        </p:spPr>
        <p:txBody>
          <a:bodyPr anchorCtr="0" anchor="t" bIns="0" lIns="0" spcFirstLastPara="1" rIns="0" wrap="square" tIns="0">
            <a:normAutofit fontScale="92500" lnSpcReduction="10000"/>
          </a:bodyPr>
          <a:lstStyle/>
          <a:p>
            <a:pPr indent="-334328" lvl="0" marL="457200" rtl="0" algn="l">
              <a:spcBef>
                <a:spcPts val="0"/>
              </a:spcBef>
              <a:spcAft>
                <a:spcPts val="0"/>
              </a:spcAft>
              <a:buSzPct val="100000"/>
              <a:buChar char="●"/>
            </a:pPr>
            <a:r>
              <a:rPr lang="es"/>
              <a:t>Motores Open Source (Impala, Presto, Drill) para clústeres propios o Dataproc [cite: user]</a:t>
            </a:r>
            <a:endParaRPr/>
          </a:p>
          <a:p>
            <a:pPr indent="-334328" lvl="0" marL="457200" rtl="0" algn="l">
              <a:spcBef>
                <a:spcPts val="0"/>
              </a:spcBef>
              <a:spcAft>
                <a:spcPts val="0"/>
              </a:spcAft>
              <a:buSzPct val="100000"/>
              <a:buChar char="●"/>
            </a:pPr>
            <a:r>
              <a:rPr lang="es"/>
              <a:t>Impala es más rápido que Hive para consultas interactivas sin MapReduce [cite: user]</a:t>
            </a:r>
            <a:endParaRPr/>
          </a:p>
          <a:p>
            <a:pPr indent="-334328" lvl="0" marL="457200" rtl="0" algn="l">
              <a:spcBef>
                <a:spcPts val="0"/>
              </a:spcBef>
              <a:spcAft>
                <a:spcPts val="0"/>
              </a:spcAft>
              <a:buSzPct val="100000"/>
              <a:buChar char="●"/>
            </a:pPr>
            <a:r>
              <a:rPr lang="es"/>
              <a:t>Presto/Trino permite unir datos de distintas fuentes con una consulta SQL [cite: user]</a:t>
            </a:r>
            <a:endParaRPr/>
          </a:p>
          <a:p>
            <a:pPr indent="-334328" lvl="0" marL="457200" rtl="0" algn="l">
              <a:spcBef>
                <a:spcPts val="0"/>
              </a:spcBef>
              <a:spcAft>
                <a:spcPts val="0"/>
              </a:spcAft>
              <a:buSzPct val="100000"/>
              <a:buChar char="●"/>
            </a:pPr>
            <a:r>
              <a:rPr lang="es"/>
              <a:t>Snowflake, Redshift y Synapse son alternativas a BigQuery en la nube [cite: user]</a:t>
            </a:r>
            <a:endParaRPr/>
          </a:p>
          <a:p>
            <a:pPr indent="-334328" lvl="0" marL="457200" rtl="0" algn="l">
              <a:spcBef>
                <a:spcPts val="0"/>
              </a:spcBef>
              <a:spcAft>
                <a:spcPts val="0"/>
              </a:spcAft>
              <a:buSzPct val="100000"/>
              <a:buChar char="●"/>
            </a:pPr>
            <a:r>
              <a:rPr lang="es"/>
              <a:t>Databricks con Delta Lake ofrece transacciones para archivos en el Bucket</a:t>
            </a:r>
            <a:endParaRPr/>
          </a:p>
        </p:txBody>
      </p:sp>
      <p:pic>
        <p:nvPicPr>
          <p:cNvPr id="342" name="Google Shape;342;p58"/>
          <p:cNvPicPr preferRelativeResize="0"/>
          <p:nvPr>
            <p:ph idx="2" type="pic"/>
          </p:nvPr>
        </p:nvPicPr>
        <p:blipFill rotWithShape="1">
          <a:blip r:embed="rId3">
            <a:alphaModFix/>
          </a:blip>
          <a:srcRect b="-24056" l="-15757" r="-15770" t="-24071"/>
          <a:stretch/>
        </p:blipFill>
        <p:spPr>
          <a:xfrm>
            <a:off x="5079600" y="629000"/>
            <a:ext cx="4064400" cy="4578000"/>
          </a:xfrm>
          <a:prstGeom prst="roundRect">
            <a:avLst>
              <a:gd fmla="val 50000" name="adj"/>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48" name="Google Shape;348;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49" name="Google Shape;349;p59"/>
          <p:cNvPicPr preferRelativeResize="0"/>
          <p:nvPr/>
        </p:nvPicPr>
        <p:blipFill rotWithShape="1">
          <a:blip r:embed="rId3">
            <a:alphaModFix/>
          </a:blip>
          <a:srcRect b="0" l="0" r="0" t="0"/>
          <a:stretch/>
        </p:blipFill>
        <p:spPr>
          <a:xfrm>
            <a:off x="1649900" y="0"/>
            <a:ext cx="5143501" cy="514350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En este caso</a:t>
            </a:r>
            <a:endParaRPr/>
          </a:p>
        </p:txBody>
      </p:sp>
      <p:sp>
        <p:nvSpPr>
          <p:cNvPr id="355" name="Google Shape;355;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b="1" lang="es"/>
              <a:t>Empezamos en GCS</a:t>
            </a:r>
            <a:r>
              <a:rPr lang="es"/>
              <a:t>: Aquí guardamos nuestros archivos de emails y sentimientos de forma económica. Es nuestro Data Lake.</a:t>
            </a:r>
            <a:endParaRPr/>
          </a:p>
          <a:p>
            <a:pPr indent="-342900" lvl="0" marL="457200" rtl="0" algn="l">
              <a:spcBef>
                <a:spcPts val="0"/>
              </a:spcBef>
              <a:spcAft>
                <a:spcPts val="0"/>
              </a:spcAft>
              <a:buSzPts val="1800"/>
              <a:buChar char="●"/>
            </a:pPr>
            <a:r>
              <a:rPr b="1" lang="es"/>
              <a:t>Procesamos con Dataproc</a:t>
            </a:r>
            <a:r>
              <a:rPr lang="es"/>
              <a:t>: Usamos Spark para limpiar los datos. Pero lo más importante es que usamos Hive para darles estructura física. Aplicamos Partitioning por fecha para no leer archivos de años que no necesitamos, y Bucketing por usuario para que los cruces de tablas (Joins) sean ultra eficientes.</a:t>
            </a:r>
            <a:endParaRPr/>
          </a:p>
          <a:p>
            <a:pPr indent="-342900" lvl="0" marL="457200" rtl="0" algn="l">
              <a:spcBef>
                <a:spcPts val="0"/>
              </a:spcBef>
              <a:spcAft>
                <a:spcPts val="0"/>
              </a:spcAft>
              <a:buSzPts val="1800"/>
              <a:buChar char="●"/>
            </a:pPr>
            <a:r>
              <a:rPr b="1" lang="es"/>
              <a:t>Consumimos en BigQuery</a:t>
            </a:r>
            <a:r>
              <a:rPr lang="es"/>
              <a:t>: Finalmente, exponemos esos archivos Parquet ya optimizados en BigQuery. Así, un analista puede lanzar un SQL y obtener el sentimiento promedio de un millón de correos en menos de 2 segundos.</a:t>
            </a:r>
            <a:endParaRPr/>
          </a:p>
          <a:p>
            <a:pPr indent="0" lvl="0" marL="0" rtl="0" algn="l">
              <a:spcBef>
                <a:spcPts val="1200"/>
              </a:spcBef>
              <a:spcAft>
                <a:spcPts val="120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61" name="Google Shape;361;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67" name="Google Shape;367;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73" name="Google Shape;373;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