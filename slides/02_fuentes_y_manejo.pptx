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A02412-61B6-4CCC-937C-475463776847}">
  <a:tblStyle styleId="{0FA02412-61B6-4CCC-937C-4754637768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Roboto-bold.fntdata"/><Relationship Id="rId23" Type="http://schemas.openxmlformats.org/officeDocument/2006/relationships/slide" Target="slides/slide17.xml"/><Relationship Id="rId45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Roboto-boldItalic.fntdata"/><Relationship Id="rId25" Type="http://schemas.openxmlformats.org/officeDocument/2006/relationships/slide" Target="slides/slide19.xml"/><Relationship Id="rId47" Type="http://schemas.openxmlformats.org/officeDocument/2006/relationships/font" Target="fonts/Robo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49cde5551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49cde5551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49cde5551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49cde5551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49cde5551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49cde5551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49cde5551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49cde5551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49cde5551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49cde5551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49cde5551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49cde5551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49cde5551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49cde5551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49cde5551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49cde5551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9cde5551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9cde5551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49cde5551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49cde5551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9cde5551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49cde5551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9cde5551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49cde5551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49cde5551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49cde5551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49cde5551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49cde5551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49cde5551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49cde5551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49cde5551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49cde5551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49cde5551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49cde5551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49cde5551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49cde5551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49cde5551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49cde5551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49cde5551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49cde5551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49cde5551_0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49cde5551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49cde5551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49cde5551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49cde5551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49cde5551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49cde5551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49cde5551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49cde5551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49cde5551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49cde5551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49cde5551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49cde5551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49cde5551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49cde5551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49cde5551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49cde5551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49cde5551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49cde5551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49cde5551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Segunda ley de newton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Ecuacion de Dirac para entrelazamiento cuántico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 Black Scholes Merton para predicción de volatilidad y precios del mercado en condiciones perfectas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Regresión Lineal Simple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49cde5551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49cde5551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49cde5551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949cde5551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49cde5551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949cde5551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49cde5551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49cde5551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49cde5551_0_1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49cde5551_0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49cde5551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949cde5551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49cde5551_0_1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949cde5551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Fuentes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dato?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"Es una representación simbólica de una variable cuantitativa o cualitativa…"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"Es la base atómica de cualquier análisis"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"Sólo tiene valor si tiene contexto"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313800" y="224150"/>
            <a:ext cx="85164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{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"created_at"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"Thu Apr 06 15:24:15 +0000 2017"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"id_str"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"850006245121695744"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"text"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"1\/ Today we\u2019re sharing our vision for the future of the Twitter API platform!\nhttps:\/\/t.co\/XweGngmxlP"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"user"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:{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"id"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2244994945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"name"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"Twitter Dev"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"screen_name"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"TwitterDev"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"location"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"Internet"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"url"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"https:\/\/dev.twitter.com\/"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"description"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"Your official source for Twitter Platform news, updates &amp; events. Need technical help? Visit https:\/\/twittercommunity.com\/ \u2328\ufe0f #TapIntoTwitter"</a:t>
            </a:r>
            <a:endParaRPr sz="8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},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"place"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:{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},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"entities"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:{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"hashtags"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:[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],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"urls"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:[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 {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"url"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"https:\/\/t.co\/XweGngmxlP"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"unwound"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:{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  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"url"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"https:\/\/cards.twitter.com\/cards\/18ce53wgo4h\/3xo1c"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  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"title"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</a:t>
            </a:r>
            <a:r>
              <a:rPr lang="es" sz="800">
                <a:solidFill>
                  <a:srgbClr val="777777"/>
                </a:solidFill>
                <a:highlight>
                  <a:srgbClr val="FFFFFF"/>
                </a:highlight>
              </a:rPr>
              <a:t>"Building the Future of the Twitter API Platform"</a:t>
            </a:r>
            <a:endParaRPr sz="800">
              <a:solidFill>
                <a:srgbClr val="777777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    }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 }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],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</a:t>
            </a:r>
            <a:r>
              <a:rPr lang="es" sz="800">
                <a:solidFill>
                  <a:srgbClr val="4A4A4A"/>
                </a:solidFill>
                <a:highlight>
                  <a:srgbClr val="FFFFFF"/>
                </a:highlight>
              </a:rPr>
              <a:t>"user_mentions"</a:t>
            </a: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:[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  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   ]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  }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666666"/>
                </a:solidFill>
                <a:highlight>
                  <a:srgbClr val="FFFFFF"/>
                </a:highlight>
              </a:rPr>
              <a:t>}</a:t>
            </a:r>
            <a:endParaRPr sz="8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85D6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434548"/>
                </a:solidFill>
                <a:highlight>
                  <a:srgbClr val="FFFFFF"/>
                </a:highlight>
              </a:rPr>
              <a:t> </a:t>
            </a:r>
            <a:endParaRPr sz="750">
              <a:solidFill>
                <a:srgbClr val="434548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313800" y="224150"/>
            <a:ext cx="85164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{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"created_at":"Thu Apr 06 15:24:15 +0000 2017",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"id_str":"850006245121695744",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"text":"1\/ Today we\u2019re sharing our vision for the future of the Twitter API platform!\nhttps:\/\/t.co\/XweGngmxlP",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"user":{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"id":2244994945,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"name":"Twitter Dev",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"screen_name":"TwitterDev",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"location":"Internet",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"url":"https:\/\/dev.twitter.com\/",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"description":"Your official source for Twitter Platform news, updates &amp; events. Need technical help? Visit https:\/\/twittercommunity.com\/ \u2328\ufe0f #TapIntoTwitter"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},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"place":{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},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"entities":{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"hashtags":[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],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"urls":[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 {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    "url":"https:\/\/t.co\/XweGngmxlP",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    "unwound":{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       "url":"https:\/\/cards.twitter.com\/cards\/18ce53wgo4h\/3xo1c",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       "title":"Building the Future of the Twitter API Platform"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    }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 }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],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"user_mentions":[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  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   ]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  }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CCCCCC"/>
                </a:solidFill>
                <a:highlight>
                  <a:srgbClr val="FFFFFF"/>
                </a:highlight>
              </a:rPr>
              <a:t>}</a:t>
            </a:r>
            <a:endParaRPr sz="800">
              <a:solidFill>
                <a:srgbClr val="CCCCCC"/>
              </a:solidFill>
              <a:highlight>
                <a:srgbClr val="FFFFFF"/>
              </a:highlight>
            </a:endParaRPr>
          </a:p>
          <a:p>
            <a:pPr indent="0" lvl="0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485D6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434548"/>
                </a:solidFill>
                <a:highlight>
                  <a:srgbClr val="FFFFFF"/>
                </a:highlight>
              </a:rPr>
              <a:t> </a:t>
            </a:r>
            <a:endParaRPr sz="750">
              <a:solidFill>
                <a:srgbClr val="434548"/>
              </a:solidFill>
              <a:highlight>
                <a:srgbClr val="FFFFFF"/>
              </a:highlight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583875" y="1085850"/>
            <a:ext cx="59028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Schema-On-Read</a:t>
            </a:r>
            <a:endParaRPr sz="5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400" y="66400"/>
            <a:ext cx="744951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400" y="66400"/>
            <a:ext cx="744951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1583875" y="1085850"/>
            <a:ext cx="59028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latin typeface="Roboto"/>
                <a:ea typeface="Roboto"/>
                <a:cs typeface="Roboto"/>
                <a:sym typeface="Roboto"/>
              </a:rPr>
              <a:t>Schema-On-Read</a:t>
            </a:r>
            <a:endParaRPr sz="5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438" y="279400"/>
            <a:ext cx="747712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975" y="183675"/>
            <a:ext cx="5944775" cy="44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535975" y="183675"/>
            <a:ext cx="5944775" cy="44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1583875" y="1085850"/>
            <a:ext cx="59028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latin typeface="Roboto"/>
                <a:ea typeface="Roboto"/>
                <a:cs typeface="Roboto"/>
                <a:sym typeface="Roboto"/>
              </a:rPr>
              <a:t>Visión - ML</a:t>
            </a:r>
            <a:endParaRPr sz="5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659575" y="1713250"/>
            <a:ext cx="8189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50">
                <a:solidFill>
                  <a:srgbClr val="2E2E2E"/>
                </a:solidFill>
              </a:rPr>
              <a:t>b0e23a5da8c627b49b88f6aa148cf5cfad91a4bc284ac8dac1cbe7c14e333746</a:t>
            </a:r>
            <a:endParaRPr sz="1750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659575" y="1713250"/>
            <a:ext cx="8189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50">
                <a:solidFill>
                  <a:srgbClr val="2E2E2E"/>
                </a:solidFill>
              </a:rPr>
              <a:t>b0e23a5da8c627b49b88f6aa148cf5cfad91a4bc284ac8dac1cbe7c14e333746</a:t>
            </a:r>
            <a:endParaRPr sz="1750">
              <a:solidFill>
                <a:srgbClr val="2E2E2E"/>
              </a:solidFill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1796150" y="2702375"/>
            <a:ext cx="48900" cy="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759275" y="2604400"/>
            <a:ext cx="709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Seguridad - Linaje y Trazabilidad</a:t>
            </a:r>
            <a:endParaRPr sz="4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 fundamentales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¿De dónde vienen los datos?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¿Todo puede ser un dato?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¿Siempre sirven los datos?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Sobre el uso histórico…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2007, el precio del SPY (ETF de S&amp;P 500) costaba ~$156 USD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 2013, el precio del SPY (ETF de S&amp;P 500) costaba ~$156 USD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Sobre el uso histórico…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2007, el precio del SPY (ETF de S&amp;P 500) costaba ~$156 USD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 2013, el precio del SPY (ETF de S&amp;P 500) costaba ~$156 USD</a:t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1039650" y="2431050"/>
            <a:ext cx="731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… marcando el comienzo de la caída más grande que ha tenido la bolsa de valores en años recientes, liderada por la crisis hipotecaria en 2008.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1117825" y="3971275"/>
            <a:ext cx="731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… siendo el mayor valor alcanzado hasta esa fecha, y en una mirada histórica, el punto  medio del crecimiento más alto de la bolsa de valores.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45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y Almacenamiento</a:t>
            </a:r>
            <a:endParaRPr/>
          </a:p>
        </p:txBody>
      </p:sp>
      <p:sp>
        <p:nvSpPr>
          <p:cNvPr id="155" name="Google Shape;155;p28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Patrones de almacenamiento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2" name="Google Shape;162;p29"/>
          <p:cNvGraphicFramePr/>
          <p:nvPr/>
        </p:nvGraphicFramePr>
        <p:xfrm>
          <a:off x="300450" y="166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{0FA02412-61B6-4CCC-937C-475463776847}</a:tableStyleId>
              </a:tblPr>
              <a:tblGrid>
                <a:gridCol w="1687825"/>
                <a:gridCol w="1687825"/>
                <a:gridCol w="1687825"/>
                <a:gridCol w="1687825"/>
                <a:gridCol w="1687825"/>
              </a:tblGrid>
              <a:tr h="49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Característica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Data Mart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Data Warehouse (DH)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Data Lake (DL)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Data Lakehouse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66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Foco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Tópico atómico /Semántica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Visión</a:t>
                      </a:r>
                      <a:r>
                        <a:rPr lang="es" sz="1100"/>
                        <a:t> consolidada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Repositorio de datos crudos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Unificación de estructura y flexibilidad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00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Esquema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Schema-On-Write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Schema-On-Write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Schema-On-Read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Flexible Schema-On-Read con gestión de calidad (Schema Enforcement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0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Calidad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Alta, curada para reportes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Alta, agregados e históricos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Baja/Media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Alta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6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Uso principal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Reportes de un área específica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Análisis OLAP, BI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ML, Data Science, Exploración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Todo, con alta eficiencia en querying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725" y="471488"/>
            <a:ext cx="650557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0" y="1048425"/>
            <a:ext cx="8839200" cy="343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250" y="246200"/>
            <a:ext cx="558824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012" y="0"/>
            <a:ext cx="6273512" cy="505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650" y="324725"/>
            <a:ext cx="73152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riesgo de no gobernar: Data Swamp</a:t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872" y="1813822"/>
            <a:ext cx="5327900" cy="28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OLTP 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On-line Transaction Processing.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Bases de datos transaccionales con transacciones cortas en sentencias DML (Data Manipulation Language - SELECT, DELETE, UPDATE, INSERT).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persisten datos atómicos (Transacciones)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OLAP</a:t>
            </a:r>
            <a:endParaRPr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471900" y="1919075"/>
            <a:ext cx="5343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On-Line Analytical Processing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Análisis de datos de transacciones lentas y orientadas al análisis.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Usualmente son datos que representan agregados históricos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espera velocidad de acceso.</a:t>
            </a:r>
            <a:endParaRPr/>
          </a:p>
        </p:txBody>
      </p:sp>
      <p:pic>
        <p:nvPicPr>
          <p:cNvPr id="207" name="Google Shape;2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625" y="2237300"/>
            <a:ext cx="3023400" cy="2241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38"/>
          <p:cNvGraphicFramePr/>
          <p:nvPr/>
        </p:nvGraphicFramePr>
        <p:xfrm>
          <a:off x="952500" y="13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{0FA02412-61B6-4CCC-937C-475463776847}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OLTP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OLAP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Propósito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Gestión de transacciones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Análisis y consultas históricas o agregadas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Modelo de datos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Normalizado, optimiza integridad y evita redundancia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Desnormalizado (Esquemas estrella, snowflake)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Volúmen de datos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Pequeño (GB a TB)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Masivo (TB a PB)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Latencia/Velocidad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Milisegundos, alta disponibilidad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Alta latencia, prioriza rendimiento analítico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Usuarios Típicos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Clientes, cajeros, sistemas automatizados, IoT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Analistas, Data Scientists, BI analysts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Ejemplos de aplicación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Sistemas POS, Banca en Línea, eComerce…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Tendencias, Minería de datos, Modelos de ML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Herramientas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SQL (PostreSQL, MySQL, DynamoDB), Kafka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SSAS, Hyperion, Snowflake, </a:t>
                      </a:r>
                      <a:r>
                        <a:rPr lang="es"/>
                        <a:t>Redshift</a:t>
                      </a:r>
                      <a:r>
                        <a:rPr lang="es"/>
                        <a:t>, BigQuery, Delta Lake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Minería de Datos</a:t>
            </a:r>
            <a:endParaRPr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AHORA, el término se ha expandido, pero ahora se conoce como Ciencia de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Objetivo</a:t>
            </a:r>
            <a:r>
              <a:rPr lang="es"/>
              <a:t>: Transformar Datos en Modelos o "Actionable insights".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Extracción: Descubrir patrones, anomalías y relaciones causales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Modelado predictivo y descriptivo: Estimar valores futuros, asignar categorías, recomendar la mejor acción a tomar.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275" y="100700"/>
            <a:ext cx="522305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pipeline</a:t>
            </a:r>
            <a:endParaRPr/>
          </a:p>
        </p:txBody>
      </p:sp>
      <p:sp>
        <p:nvSpPr>
          <p:cNvPr id="229" name="Google Shape;229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Feature engineering: Transformar datos crudos en variables relevantes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Seleccionar Algoritmo (modelo): Aplicar modelos matemáticos en datos persistentes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Validación y Despliegue: Se prueba el modelo con métricas de negocio y se operacionaliza en producción (despliegue)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975" y="59725"/>
            <a:ext cx="4977167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5445575" y="4898425"/>
            <a:ext cx="380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https://www.analyticsvidhya.com/blog/2022/08/basic-introduction-to-data-science-pipeline/</a:t>
            </a:r>
            <a:endParaRPr sz="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modelo?</a:t>
            </a:r>
            <a:endParaRPr/>
          </a:p>
        </p:txBody>
      </p:sp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“Es una representación o abstracción de un fenómeno observado”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pic>
        <p:nvPicPr>
          <p:cNvPr id="242" name="Google Shape;24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575" y="2418300"/>
            <a:ext cx="7810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575" y="2874950"/>
            <a:ext cx="6858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575" y="3174163"/>
            <a:ext cx="23241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575" y="3529725"/>
            <a:ext cx="3371850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de datos (Antes DSS)</a:t>
            </a:r>
            <a:endParaRPr/>
          </a:p>
        </p:txBody>
      </p:sp>
      <p:sp>
        <p:nvSpPr>
          <p:cNvPr id="251" name="Google Shape;251;p4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Decision Support Systems ahora se conocen como Data Products, son sistemas que facilitan las decisiones </a:t>
            </a:r>
            <a:r>
              <a:rPr lang="es"/>
              <a:t>impulsados</a:t>
            </a:r>
            <a:r>
              <a:rPr lang="es"/>
              <a:t> por: Datos Curados, Modelos predictivos y Visualizaciones Interactivas (o Dashboards).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Funcionan para democratizar los datos y hacerlos útiles y accesibles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Ejemplos: El Sistema de recomendación de NETFLIX</a:t>
            </a:r>
            <a:endParaRPr/>
          </a:p>
        </p:txBody>
      </p:sp>
      <p:pic>
        <p:nvPicPr>
          <p:cNvPr id="257" name="Google Shape;25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100" y="722475"/>
            <a:ext cx="7519794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Ejemplos: Spotify Discover</a:t>
            </a:r>
            <a:endParaRPr/>
          </a:p>
        </p:txBody>
      </p:sp>
      <p:pic>
        <p:nvPicPr>
          <p:cNvPr id="263" name="Google Shape;26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825" y="730650"/>
            <a:ext cx="6586772" cy="42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Ejemplos: Maps</a:t>
            </a:r>
            <a:endParaRPr/>
          </a:p>
        </p:txBody>
      </p:sp>
      <p:pic>
        <p:nvPicPr>
          <p:cNvPr id="269" name="Google Shape;26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8631934" cy="421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Ejemplos: FICO Score</a:t>
            </a:r>
            <a:endParaRPr/>
          </a:p>
        </p:txBody>
      </p:sp>
      <p:pic>
        <p:nvPicPr>
          <p:cNvPr id="275" name="Google Shape;27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925" y="689800"/>
            <a:ext cx="6043249" cy="42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Ejemplos: Custom Trading</a:t>
            </a:r>
            <a:endParaRPr/>
          </a:p>
        </p:txBody>
      </p:sp>
      <p:pic>
        <p:nvPicPr>
          <p:cNvPr id="281" name="Google Shape;28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050" y="735700"/>
            <a:ext cx="6017326" cy="41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Visualización</a:t>
            </a:r>
            <a:endParaRPr/>
          </a:p>
        </p:txBody>
      </p:sp>
      <p:sp>
        <p:nvSpPr>
          <p:cNvPr id="287" name="Google Shape;287;p5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la forma en que el valor llega al usuario final y se convierte en acción.</a:t>
            </a:r>
            <a:endParaRPr/>
          </a:p>
        </p:txBody>
      </p:sp>
      <p:pic>
        <p:nvPicPr>
          <p:cNvPr id="288" name="Google Shape;28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450" y="2529875"/>
            <a:ext cx="2600775" cy="6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9275" y="2418963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8750" y="3357925"/>
            <a:ext cx="1809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