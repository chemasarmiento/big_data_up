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A316C5-9B45-4791-B696-00D051ACE43D}">
  <a:tblStyle styleId="{1EA316C5-9B45-4791-B696-00D051ACE43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5084cd4e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5084cd4e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5084cd4e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5084cd4e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5084cd4e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5084cd4e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5084cd4e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5084cd4e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5084cd4e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5084cd4e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rPr>
              <a:t>Spark operations on distributed data can be classified into two types: transformations and actions. Transformations, as the name suggests, transform a Spark DataFrame into a new DataFrame without altering the original data, giving it the property of immutability. Put another way, an operation such as select() or filter() will not change the original DataFrame; instead, it will return the transformed results of the operation as a new DataFrame.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rPr>
              <a:t>All transformations are evaluated lazily. That is, their results are not computed immediately, but they are recorded or remembered as a lineage. A recorded lineage allows Spark, at a later time in its execution plan, to rearrange certain transformations, coalesce them, or optimize transformations into stages for more efficient execution. Lazy evaluation is Spark’s strategy for delaying execution until an action is invoked or data is “touched” (read from or written to disk).</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5084cd4e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5084cd4e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5084cd4e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5084cd4e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5084cd4e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5084cd4e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5084cd4e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5084cd4e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5084cd4e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5084cd4e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5084cd4e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5084cd4e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5084cd4e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5084cd4e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5084cd4e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5084cd4e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5084cd4e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5084cd4e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5084cd4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5084cd4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5084cd4e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5084cd4e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5084cd4e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5084cd4e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5084cd4e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5084cd4e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5084cd4e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5084cd4ec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5084cd4e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5084cd4e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sparkbyexamples.com/pyspark" TargetMode="External"/><Relationship Id="rId4" Type="http://schemas.openxmlformats.org/officeDocument/2006/relationships/hyperlink" Target="https://spark.apache.org/docs/latest/index.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Spark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1. ¿Qué es Apache Spark?&#10;Es un motor de procesamiento de datos distribuido y en memoria. No es una base de datos, es un motor de cómputo.&#10;&#10;Contexto: Nace para resolver las limitaciones de velocidad de Hadoop MapReduce.&#10;&#10;2. Diferencia Crucial: Map Reduce vs. Spark&#10;MapReduce (Disco): Escribe en el disco duro después de cada paso. Es como cocinar un plato, lavar todo, guardarlo, y luego volver a sacar todo para el siguiente paso.&#10;&#10;Spark (Memoria): Mantiene los datos en RAM entre pasos. Es como tener todos los ingredientes en la mesa listos para usar." id="60" name="Google Shape;60;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descr="1. ¿Qué es Apache Spark?&#10;Es un motor de procesamiento de datos distribuido y en memoria. No es una base de datos, es un motor de cómputo.&#10;&#10;Contexto: Nace para resolver las limitaciones de velocidad de Hadoop MapReduce.&#10;&#10;2. Diferencia Crucial: Map Reduce vs. Spark&#10;MapReduce (Disco): Escribe en el disco duro después de cada paso. Es como cocinar un plato, lavar todo, guardarlo, y luego volver a sacar todo para el siguiente paso.&#10;&#10;Spark (Memoria): Mantiene los datos en RAM entre pasos. Es como tener todos los ingredientes en la mesa listos para usar." id="65" name="Google Shape;65;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 Componentes de Spark (Arquitectura Maestro-Esclavo)&#10;Driver Program: El &quot;Cerebro&quot;. Contiene el SparkSession y el código principal.&#10;&#10;Cluster Manager: El &quot;Capataz&quot; (YARN, Kubernetes o Standalone).&#10;&#10;Executors: Los &quot;Obreros&quot;. Viven en los nodos del clúster y ejecutan las tareas.&#10;&#10;4. Lazy Evaluation (Evaluación Perezosa)&#10;Spark no hace nada hasta que es estrictamente necesario.&#10;&#10;Transformaciones: (Ej. filter, select). Solo anotan qué hacer. No tocan los datos.&#10;&#10;Acciones: (Ej. show, count, save). Activan la ejecución real.&#10;&#10;Analogía: Es como hacer una lista de compras (Transformaciones). No gastas dinero hasta que vas a la caja y pagas (Acción)." id="70" name="Google Shape;70;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descr="4. Lazy Evaluation (Evaluación Perezosa)&#10;Spark no hace nada hasta que es estrictamente necesario.&#10;&#10;Transformaciones: (Ej. filter, select). Solo anotan qué hacer. No tocan los datos.&#10;&#10;Acciones: (Ej. show, count, save). Activan la ejecución real.&#10;&#10;Analogía: Es como hacer una lista de compras (Transformaciones). No gastas dinero hasta que vas a la caja y pagas (Acción)." id="75" name="Google Shape;75;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Transformations, Actions, and Lazy Evaluation</a:t>
            </a:r>
            <a:endParaRPr/>
          </a:p>
        </p:txBody>
      </p:sp>
      <p:pic>
        <p:nvPicPr>
          <p:cNvPr id="81" name="Google Shape;81;p18"/>
          <p:cNvPicPr preferRelativeResize="0"/>
          <p:nvPr/>
        </p:nvPicPr>
        <p:blipFill>
          <a:blip r:embed="rId3">
            <a:alphaModFix/>
          </a:blip>
          <a:stretch>
            <a:fillRect/>
          </a:stretch>
        </p:blipFill>
        <p:spPr>
          <a:xfrm>
            <a:off x="819150" y="1909900"/>
            <a:ext cx="4437258" cy="2185825"/>
          </a:xfrm>
          <a:prstGeom prst="rect">
            <a:avLst/>
          </a:prstGeom>
          <a:noFill/>
          <a:ln>
            <a:noFill/>
          </a:ln>
        </p:spPr>
      </p:pic>
      <p:graphicFrame>
        <p:nvGraphicFramePr>
          <p:cNvPr id="82" name="Google Shape;82;p18"/>
          <p:cNvGraphicFramePr/>
          <p:nvPr/>
        </p:nvGraphicFramePr>
        <p:xfrm>
          <a:off x="5621600" y="1800188"/>
          <a:ext cx="3000000" cy="3000000"/>
        </p:xfrm>
        <a:graphic>
          <a:graphicData uri="http://schemas.openxmlformats.org/drawingml/2006/table">
            <a:tbl>
              <a:tblPr>
                <a:noFill/>
                <a:tableStyleId>{1EA316C5-9B45-4791-B696-00D051ACE43D}</a:tableStyleId>
              </a:tblPr>
              <a:tblGrid>
                <a:gridCol w="1719900"/>
                <a:gridCol w="1444175"/>
              </a:tblGrid>
              <a:tr h="366500">
                <a:tc>
                  <a:txBody>
                    <a:bodyPr/>
                    <a:lstStyle/>
                    <a:p>
                      <a:pPr indent="0" lvl="0" marL="0" rtl="0" algn="l">
                        <a:lnSpc>
                          <a:spcPct val="115000"/>
                        </a:lnSpc>
                        <a:spcBef>
                          <a:spcPts val="0"/>
                        </a:spcBef>
                        <a:spcAft>
                          <a:spcPts val="0"/>
                        </a:spcAft>
                        <a:buNone/>
                      </a:pPr>
                      <a:r>
                        <a:rPr b="1" lang="es"/>
                        <a:t>Transformations</a:t>
                      </a:r>
                      <a:endParaRPr b="1"/>
                    </a:p>
                  </a:txBody>
                  <a:tcPr marT="91425" marB="91425" marR="91425" marL="91425"/>
                </a:tc>
                <a:tc>
                  <a:txBody>
                    <a:bodyPr/>
                    <a:lstStyle/>
                    <a:p>
                      <a:pPr indent="0" lvl="0" marL="0" rtl="0" algn="l">
                        <a:spcBef>
                          <a:spcPts val="0"/>
                        </a:spcBef>
                        <a:spcAft>
                          <a:spcPts val="0"/>
                        </a:spcAft>
                        <a:buNone/>
                      </a:pPr>
                      <a:r>
                        <a:rPr b="1" lang="es"/>
                        <a:t>Actions</a:t>
                      </a:r>
                      <a:endParaRPr b="1"/>
                    </a:p>
                  </a:txBody>
                  <a:tcPr marT="91425" marB="91425" marR="91425" marL="91425"/>
                </a:tc>
              </a:tr>
              <a:tr h="334075">
                <a:tc>
                  <a:txBody>
                    <a:bodyPr/>
                    <a:lstStyle/>
                    <a:p>
                      <a:pPr indent="0" lvl="0" marL="0" rtl="0" algn="l">
                        <a:spcBef>
                          <a:spcPts val="0"/>
                        </a:spcBef>
                        <a:spcAft>
                          <a:spcPts val="0"/>
                        </a:spcAft>
                        <a:buNone/>
                      </a:pPr>
                      <a:r>
                        <a:rPr lang="es"/>
                        <a:t>orderBy()</a:t>
                      </a:r>
                      <a:endParaRPr/>
                    </a:p>
                  </a:txBody>
                  <a:tcPr marT="91425" marB="91425" marR="91425" marL="91425"/>
                </a:tc>
                <a:tc>
                  <a:txBody>
                    <a:bodyPr/>
                    <a:lstStyle/>
                    <a:p>
                      <a:pPr indent="0" lvl="0" marL="0" rtl="0" algn="l">
                        <a:spcBef>
                          <a:spcPts val="0"/>
                        </a:spcBef>
                        <a:spcAft>
                          <a:spcPts val="0"/>
                        </a:spcAft>
                        <a:buNone/>
                      </a:pPr>
                      <a:r>
                        <a:rPr lang="es"/>
                        <a:t>show()</a:t>
                      </a:r>
                      <a:endParaRPr/>
                    </a:p>
                  </a:txBody>
                  <a:tcPr marT="91425" marB="91425" marR="91425" marL="91425"/>
                </a:tc>
              </a:tr>
              <a:tr h="334075">
                <a:tc>
                  <a:txBody>
                    <a:bodyPr/>
                    <a:lstStyle/>
                    <a:p>
                      <a:pPr indent="0" lvl="0" marL="0" rtl="0" algn="l">
                        <a:spcBef>
                          <a:spcPts val="0"/>
                        </a:spcBef>
                        <a:spcAft>
                          <a:spcPts val="0"/>
                        </a:spcAft>
                        <a:buNone/>
                      </a:pPr>
                      <a:r>
                        <a:rPr lang="es"/>
                        <a:t>groupBy()</a:t>
                      </a:r>
                      <a:endParaRPr/>
                    </a:p>
                  </a:txBody>
                  <a:tcPr marT="91425" marB="91425" marR="91425" marL="91425"/>
                </a:tc>
                <a:tc>
                  <a:txBody>
                    <a:bodyPr/>
                    <a:lstStyle/>
                    <a:p>
                      <a:pPr indent="0" lvl="0" marL="0" rtl="0" algn="l">
                        <a:spcBef>
                          <a:spcPts val="0"/>
                        </a:spcBef>
                        <a:spcAft>
                          <a:spcPts val="0"/>
                        </a:spcAft>
                        <a:buNone/>
                      </a:pPr>
                      <a:r>
                        <a:rPr lang="es"/>
                        <a:t>take()</a:t>
                      </a:r>
                      <a:endParaRPr/>
                    </a:p>
                  </a:txBody>
                  <a:tcPr marT="91425" marB="91425" marR="91425" marL="91425"/>
                </a:tc>
              </a:tr>
              <a:tr h="334075">
                <a:tc>
                  <a:txBody>
                    <a:bodyPr/>
                    <a:lstStyle/>
                    <a:p>
                      <a:pPr indent="0" lvl="0" marL="0" rtl="0" algn="l">
                        <a:spcBef>
                          <a:spcPts val="0"/>
                        </a:spcBef>
                        <a:spcAft>
                          <a:spcPts val="0"/>
                        </a:spcAft>
                        <a:buNone/>
                      </a:pPr>
                      <a:r>
                        <a:rPr lang="es"/>
                        <a:t>filter()</a:t>
                      </a:r>
                      <a:endParaRPr/>
                    </a:p>
                  </a:txBody>
                  <a:tcPr marT="91425" marB="91425" marR="91425" marL="91425"/>
                </a:tc>
                <a:tc>
                  <a:txBody>
                    <a:bodyPr/>
                    <a:lstStyle/>
                    <a:p>
                      <a:pPr indent="0" lvl="0" marL="0" rtl="0" algn="l">
                        <a:spcBef>
                          <a:spcPts val="0"/>
                        </a:spcBef>
                        <a:spcAft>
                          <a:spcPts val="0"/>
                        </a:spcAft>
                        <a:buNone/>
                      </a:pPr>
                      <a:r>
                        <a:rPr lang="es"/>
                        <a:t>count()</a:t>
                      </a:r>
                      <a:endParaRPr/>
                    </a:p>
                  </a:txBody>
                  <a:tcPr marT="91425" marB="91425" marR="91425" marL="91425"/>
                </a:tc>
              </a:tr>
              <a:tr h="334075">
                <a:tc>
                  <a:txBody>
                    <a:bodyPr/>
                    <a:lstStyle/>
                    <a:p>
                      <a:pPr indent="0" lvl="0" marL="0" rtl="0" algn="l">
                        <a:spcBef>
                          <a:spcPts val="0"/>
                        </a:spcBef>
                        <a:spcAft>
                          <a:spcPts val="0"/>
                        </a:spcAft>
                        <a:buNone/>
                      </a:pPr>
                      <a:r>
                        <a:rPr lang="es"/>
                        <a:t>select()</a:t>
                      </a:r>
                      <a:endParaRPr/>
                    </a:p>
                  </a:txBody>
                  <a:tcPr marT="91425" marB="91425" marR="91425" marL="91425"/>
                </a:tc>
                <a:tc>
                  <a:txBody>
                    <a:bodyPr/>
                    <a:lstStyle/>
                    <a:p>
                      <a:pPr indent="0" lvl="0" marL="0" rtl="0" algn="l">
                        <a:spcBef>
                          <a:spcPts val="0"/>
                        </a:spcBef>
                        <a:spcAft>
                          <a:spcPts val="0"/>
                        </a:spcAft>
                        <a:buNone/>
                      </a:pPr>
                      <a:r>
                        <a:rPr lang="es"/>
                        <a:t>collect()</a:t>
                      </a:r>
                      <a:endParaRPr/>
                    </a:p>
                  </a:txBody>
                  <a:tcPr marT="91425" marB="91425" marR="91425" marL="91425"/>
                </a:tc>
              </a:tr>
              <a:tr h="512475">
                <a:tc>
                  <a:txBody>
                    <a:bodyPr/>
                    <a:lstStyle/>
                    <a:p>
                      <a:pPr indent="0" lvl="0" marL="0" rtl="0" algn="l">
                        <a:spcBef>
                          <a:spcPts val="0"/>
                        </a:spcBef>
                        <a:spcAft>
                          <a:spcPts val="0"/>
                        </a:spcAft>
                        <a:buNone/>
                      </a:pPr>
                      <a:r>
                        <a:rPr lang="es"/>
                        <a:t>join()</a:t>
                      </a:r>
                      <a:endParaRPr/>
                    </a:p>
                  </a:txBody>
                  <a:tcPr marT="91425" marB="91425" marR="91425" marL="91425"/>
                </a:tc>
                <a:tc>
                  <a:txBody>
                    <a:bodyPr/>
                    <a:lstStyle/>
                    <a:p>
                      <a:pPr indent="0" lvl="0" marL="0" rtl="0" algn="l">
                        <a:spcBef>
                          <a:spcPts val="0"/>
                        </a:spcBef>
                        <a:spcAft>
                          <a:spcPts val="0"/>
                        </a:spcAft>
                        <a:buNone/>
                      </a:pPr>
                      <a:r>
                        <a:rPr lang="es"/>
                        <a:t>save()</a:t>
                      </a:r>
                      <a:endParaRPr/>
                    </a:p>
                    <a:p>
                      <a:pPr indent="0" lvl="0" marL="0" rtl="0" algn="l">
                        <a:spcBef>
                          <a:spcPts val="0"/>
                        </a:spcBef>
                        <a:spcAft>
                          <a:spcPts val="0"/>
                        </a:spcAft>
                        <a:buNone/>
                      </a:pPr>
                      <a:r>
                        <a:rPr lang="es"/>
                        <a:t> </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Jobs, Stages y Tasks&#10;Job (Trabajo): Se genera cuando llamas a una Acción.&#10;&#10;Stage (Etapa): Un Job se divide en etapas basadas en si los datos necesitan moverse entre nodos (Shuffle).&#10;&#10;Task (Tarea): La unidad mínima de trabajo. Se envía una tarea por cada partición de datos a los ejecutores." id="87" name="Google Shape;87;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remueve el número 6. y 7. de las slides 8 y 9" id="92" name="Google Shape;92;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remueve el número 6. y 7. de las slides 8 y 9" id="97" name="Google Shape;97;p2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Narrow vs. Wide Transformations&#10;Esta es la diferencia entre un proceso que tarda segundos y uno que tarda horas.&#10;&#10;Narrow Transformations (Estrechas):&#10;&#10;Cada partición de entrada contribuye a una sola partición de salida.&#10;&#10;Ejemplos: filter(), map(), union(), select().&#10;&#10;Rendimiento: Altísimo, no hay tráfico de red.&#10;&#10;Wide Transformations (Anchas):&#10;&#10;Requieren datos de muchas particiones para calcular el resultado. Provocan un Shuffle.&#10;&#10;Ejemplos: groupBy(), reduceByKey(), join(), distinct().&#10;&#10;Rendimiento: Costoso. Los datos viajan por la red entre los nodos." id="102" name="Google Shape;102;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SparkContext y SparkSession&#10;Hay que explicar la transición histórica para evitar confusiones al leer documentación vieja:&#10;&#10;SparkContext (v1.x): El corazón original. Se usaba principalmente para crear RDDs. Era complejo porque necesitabas varios contextos para diferentes librerías (SQL, Streaming).&#10;&#10;SparkSession (v2.0 en adelante): El &quot;Súper Objeto&quot;. Es una combinación de SQLContext, HiveContext y SparkContext.&#10;&#10;Es lo que usas en tu código: spark = SparkSession.builder...&#10;&#10;Maneja las configuraciones del clúster y el catálogo de tablas de Hive automáticamente." id="107" name="Google Shape;107;p2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Este diagrama conecta la arquitectura, la lógica de ejecución y la optimización de datos:&#10;&#10;1. El Punto de Partida: SparkSession (Punto 9)&#10;Todo comienza aquí. La SparkSession actúa como la puerta de entrada. Envía tu código al Driver, quien planifica la batalla.&#10;&#10;2. El Plano Maestro: El DAG y el Optimizador (Punto 6)&#10;Antes de ejecutar, Spark crea el DAG.&#10;&#10;Si tu código dice: Cargar CSV -&gt; Filtrar -&gt; Join, el optimizador (Catalyst) analiza si puede filtrar mientras carga para ahorrar memoria.&#10;&#10;3. La Estrategia: Narrow vs. Wide (Punto 8)&#10;Spark divide el DAG en Stages:&#10;&#10;Stage 1 (Narrow): Lectura y limpieza (ej. el trim de tu logged_user). Cada nodo trabaja solo.&#10;&#10;SHUFFLE (La barrera): Los datos se mueven por la red para agrupar usuarios.&#10;&#10;Stage 2 (Wide): El JOIN o groupBy. Requiere que los datos de un mismo usuario estén en el mismo lugar.&#10;&#10;4. La Ejecución: Jobs, Stages y Tasks (Punto 5)&#10;El Job nace de tu acción .write.&#10;&#10;El Job se divide en los Stages que definimos arriba.&#10;&#10;Cada Stage lanza cientos de Tasks (una por cada bloque de datos).&#10;&#10;5. El Contenedor: DataFrames (Punto 7)&#10;Todo esto ocurre usando DataFrames. A diferencia de los RDDs, los DataFrames permiten que Spark use Tungsten, un motor que gestiona la memoria RAM de forma manual para evitar que Java (JVM) ralentice el proceso." id="112" name="Google Shape;112;p2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haz la siguiente infografía " id="117" name="Google Shape;117;p2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genera esta infografía, Resumen para &quot;llevar a casa&quot;:ConceptoAnalogía para la ClaseSparkSessionEl Director de Orquesta.DAGLa partitura musical (el plan).NarrowMúsicos tocando sus propios instrumentos.Wide (Shuffle)Los músicos intercambiando instrumentos a mitad de la canción.TasksCada nota individual que debe ser tocada." id="122" name="Google Shape;122;p2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crea un slide para dividr, que diga &quot;Spark Under The Hood&quot;, y sea un personaje revisando el cofre de un carro con componentes de Spark" id="127" name="Google Shape;127;p2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Usemos un script para ver el las parte de Spark</a:t>
            </a:r>
            <a:endParaRPr/>
          </a:p>
        </p:txBody>
      </p:sp>
      <p:sp>
        <p:nvSpPr>
          <p:cNvPr id="133" name="Google Shape;133;p28"/>
          <p:cNvSpPr txBox="1"/>
          <p:nvPr/>
        </p:nvSpPr>
        <p:spPr>
          <a:xfrm>
            <a:off x="456602" y="1017718"/>
            <a:ext cx="8687400" cy="3879600"/>
          </a:xfrm>
          <a:prstGeom prst="rect">
            <a:avLst/>
          </a:prstGeom>
          <a:noFill/>
          <a:ln>
            <a:noFill/>
          </a:ln>
        </p:spPr>
        <p:txBody>
          <a:bodyPr anchorCtr="0" anchor="t" bIns="91425" lIns="91425" spcFirstLastPara="1" rIns="91425" wrap="square" tIns="91425">
            <a:normAutofit fontScale="55000" lnSpcReduction="10000"/>
          </a:bodyPr>
          <a:lstStyle/>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import org.apache.spark.sql.functions._</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import org.apache.spark.sql.types._</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1. GENERACIÓN DE DATOS (Creación de DataFrames de ejemplo)</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val httpDF = spark.range(100000).withColumn("logged_user", concat(lit("user_"), col("id") % 100)).withColumn("sentiment", rand()).withColumn("url", lit("http://portal-interno.com/login")).withColumn("visited", current_timestamp())</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val emailDF = spark.range(50000).withColumn("logged_user", concat(lit("user_"), col("id") % 100)).withColumn("size", (rand() * 100).cast(IntegerType)).withColumn("attachment_count", (rand() * 5).cast(IntegerType))</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2. TRANSFORMACIONES NARROW (Filter y Trim)</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val httpFiltered = httpDF.filter(col("sentiment") &gt; 0.4).withColumn("logged_user", trim(col("logged_user"))) // Modifica una columna, sin shuffle</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3. TRANSFORMACIÓN WIDE (JOIN)</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val joinedDF = httpFiltered.join(emailDF, "logged_user") // Requiere shuffle</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4. AGREGACIÓN (Cálculo de métricas por usuario)</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rPr>
              <a:t>//requiere shuffle</a:t>
            </a:r>
            <a:endParaRPr sz="1800">
              <a:solidFill>
                <a:schemeClr val="dk2"/>
              </a:solidFil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val resultDF = joinedDF.groupBy("logged_user").agg(</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avg("sentiment").as("sentimiento_avg"),</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sum("size").as("total_kb_enviados"),</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count("url").as("clicks_realizados")</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 5. ACCIÓN (Dispara la ejecución de todas las transformaciones)</a:t>
            </a:r>
            <a:endParaRPr sz="18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s" sz="1800">
                <a:solidFill>
                  <a:schemeClr val="dk2"/>
                </a:solidFill>
                <a:latin typeface="Arial"/>
                <a:ea typeface="Arial"/>
                <a:cs typeface="Arial"/>
                <a:sym typeface="Arial"/>
              </a:rPr>
              <a:t>resultDF.show(10)</a:t>
            </a:r>
            <a:endParaRPr sz="1800">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9" name="Google Shape;13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0" name="Google Shape;140;p29"/>
          <p:cNvPicPr preferRelativeResize="0"/>
          <p:nvPr/>
        </p:nvPicPr>
        <p:blipFill>
          <a:blip r:embed="rId3">
            <a:alphaModFix/>
          </a:blip>
          <a:stretch>
            <a:fillRect/>
          </a:stretch>
        </p:blipFill>
        <p:spPr>
          <a:xfrm>
            <a:off x="0" y="1022622"/>
            <a:ext cx="9144000" cy="30982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6" name="Google Shape;14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7" name="Google Shape;147;p30"/>
          <p:cNvPicPr preferRelativeResize="0"/>
          <p:nvPr/>
        </p:nvPicPr>
        <p:blipFill>
          <a:blip r:embed="rId3">
            <a:alphaModFix/>
          </a:blip>
          <a:stretch>
            <a:fillRect/>
          </a:stretch>
        </p:blipFill>
        <p:spPr>
          <a:xfrm>
            <a:off x="0" y="134588"/>
            <a:ext cx="9144001" cy="4874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1"/>
          <p:cNvPicPr preferRelativeResize="0"/>
          <p:nvPr/>
        </p:nvPicPr>
        <p:blipFill rotWithShape="1">
          <a:blip r:embed="rId3">
            <a:alphaModFix/>
          </a:blip>
          <a:srcRect b="0" l="0" r="0" t="0"/>
          <a:stretch/>
        </p:blipFill>
        <p:spPr>
          <a:xfrm>
            <a:off x="842963" y="676275"/>
            <a:ext cx="7458075" cy="3787409"/>
          </a:xfrm>
          <a:prstGeom prst="rect">
            <a:avLst/>
          </a:prstGeom>
          <a:noFill/>
          <a:ln>
            <a:noFill/>
          </a:ln>
        </p:spPr>
      </p:pic>
      <p:sp>
        <p:nvSpPr>
          <p:cNvPr id="153" name="Google Shape;15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4" name="Google Shape;15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31"/>
          <p:cNvPicPr preferRelativeResize="0"/>
          <p:nvPr/>
        </p:nvPicPr>
        <p:blipFill rotWithShape="1">
          <a:blip r:embed="rId4">
            <a:alphaModFix/>
          </a:blip>
          <a:srcRect b="10601" l="0" r="79663" t="71449"/>
          <a:stretch/>
        </p:blipFill>
        <p:spPr>
          <a:xfrm>
            <a:off x="843000" y="3384800"/>
            <a:ext cx="1516800" cy="680400"/>
          </a:xfrm>
          <a:prstGeom prst="ellipse">
            <a:avLst/>
          </a:prstGeom>
          <a:noFill/>
          <a:ln>
            <a:noFill/>
          </a:ln>
        </p:spPr>
      </p:pic>
      <p:pic>
        <p:nvPicPr>
          <p:cNvPr id="156" name="Google Shape;156;p31"/>
          <p:cNvPicPr preferRelativeResize="0"/>
          <p:nvPr/>
        </p:nvPicPr>
        <p:blipFill rotWithShape="1">
          <a:blip r:embed="rId4">
            <a:alphaModFix/>
          </a:blip>
          <a:srcRect b="82053" l="75320" r="0" t="0"/>
          <a:stretch/>
        </p:blipFill>
        <p:spPr>
          <a:xfrm>
            <a:off x="6460300" y="676275"/>
            <a:ext cx="1840800" cy="680400"/>
          </a:xfrm>
          <a:prstGeom prst="rect">
            <a:avLst/>
          </a:prstGeom>
          <a:noFill/>
          <a:ln>
            <a:noFill/>
          </a:ln>
        </p:spPr>
      </p:pic>
      <p:cxnSp>
        <p:nvCxnSpPr>
          <p:cNvPr id="157" name="Google Shape;157;p31"/>
          <p:cNvCxnSpPr/>
          <p:nvPr/>
        </p:nvCxnSpPr>
        <p:spPr>
          <a:xfrm flipH="1">
            <a:off x="2501175" y="1272625"/>
            <a:ext cx="4515900" cy="22005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3" name="Google Shape;16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4" name="Google Shape;164;p32"/>
          <p:cNvPicPr preferRelativeResize="0"/>
          <p:nvPr/>
        </p:nvPicPr>
        <p:blipFill>
          <a:blip r:embed="rId3">
            <a:alphaModFix/>
          </a:blip>
          <a:stretch>
            <a:fillRect/>
          </a:stretch>
        </p:blipFill>
        <p:spPr>
          <a:xfrm>
            <a:off x="0" y="4"/>
            <a:ext cx="9144000" cy="1551941"/>
          </a:xfrm>
          <a:prstGeom prst="rect">
            <a:avLst/>
          </a:prstGeom>
          <a:noFill/>
          <a:ln>
            <a:noFill/>
          </a:ln>
        </p:spPr>
      </p:pic>
      <p:sp>
        <p:nvSpPr>
          <p:cNvPr id="165" name="Google Shape;165;p32"/>
          <p:cNvSpPr/>
          <p:nvPr/>
        </p:nvSpPr>
        <p:spPr>
          <a:xfrm>
            <a:off x="450725" y="2925250"/>
            <a:ext cx="1316700" cy="521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6" name="Google Shape;166;p32"/>
          <p:cNvPicPr preferRelativeResize="0"/>
          <p:nvPr/>
        </p:nvPicPr>
        <p:blipFill>
          <a:blip r:embed="rId4">
            <a:alphaModFix/>
          </a:blip>
          <a:stretch>
            <a:fillRect/>
          </a:stretch>
        </p:blipFill>
        <p:spPr>
          <a:xfrm>
            <a:off x="0" y="1881637"/>
            <a:ext cx="9143999" cy="1380226"/>
          </a:xfrm>
          <a:prstGeom prst="rect">
            <a:avLst/>
          </a:prstGeom>
          <a:noFill/>
          <a:ln>
            <a:noFill/>
          </a:ln>
        </p:spPr>
      </p:pic>
      <p:cxnSp>
        <p:nvCxnSpPr>
          <p:cNvPr id="167" name="Google Shape;167;p32"/>
          <p:cNvCxnSpPr/>
          <p:nvPr/>
        </p:nvCxnSpPr>
        <p:spPr>
          <a:xfrm flipH="1">
            <a:off x="998550" y="1458200"/>
            <a:ext cx="397800" cy="433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Lugares de interés</a:t>
            </a:r>
            <a:endParaRPr/>
          </a:p>
        </p:txBody>
      </p:sp>
      <p:sp>
        <p:nvSpPr>
          <p:cNvPr id="173" name="Google Shape;17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u="sng">
                <a:solidFill>
                  <a:schemeClr val="hlink"/>
                </a:solidFill>
                <a:hlinkClick r:id="rId3"/>
              </a:rPr>
              <a:t>https://sparkbyexamples.com/pyspark</a:t>
            </a:r>
            <a:endParaRPr/>
          </a:p>
          <a:p>
            <a:pPr indent="0" lvl="0" marL="0" rtl="0" algn="l">
              <a:spcBef>
                <a:spcPts val="1200"/>
              </a:spcBef>
              <a:spcAft>
                <a:spcPts val="1200"/>
              </a:spcAft>
              <a:buNone/>
            </a:pPr>
            <a:r>
              <a:rPr lang="es" u="sng">
                <a:solidFill>
                  <a:schemeClr val="hlink"/>
                </a:solidFill>
                <a:hlinkClick r:id="rId4"/>
              </a:rPr>
              <a:t>https://spark.apache.org/docs/latest/index.html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