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5143500" cx="9144000"/>
  <p:notesSz cx="6858000" cy="9144000"/>
  <p:embeddedFontLst>
    <p:embeddedFont>
      <p:font typeface="Raleway"/>
      <p:regular r:id="rId54"/>
      <p:bold r:id="rId55"/>
      <p:italic r:id="rId56"/>
      <p:boldItalic r:id="rId57"/>
    </p:embeddedFont>
    <p:embeddedFont>
      <p:font typeface="Roboto"/>
      <p:regular r:id="rId58"/>
      <p:bold r:id="rId59"/>
      <p:italic r:id="rId60"/>
      <p:boldItalic r:id="rId61"/>
    </p:embeddedFont>
    <p:embeddedFont>
      <p:font typeface="Lato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Lato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64" Type="http://schemas.openxmlformats.org/officeDocument/2006/relationships/font" Target="fonts/Lato-italic.fntdata"/><Relationship Id="rId63" Type="http://schemas.openxmlformats.org/officeDocument/2006/relationships/font" Target="fonts/Lat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aleway-bold.fntdata"/><Relationship Id="rId10" Type="http://schemas.openxmlformats.org/officeDocument/2006/relationships/slide" Target="slides/slide5.xml"/><Relationship Id="rId54" Type="http://schemas.openxmlformats.org/officeDocument/2006/relationships/font" Target="fonts/Raleway-regular.fntdata"/><Relationship Id="rId13" Type="http://schemas.openxmlformats.org/officeDocument/2006/relationships/slide" Target="slides/slide8.xml"/><Relationship Id="rId57" Type="http://schemas.openxmlformats.org/officeDocument/2006/relationships/font" Target="fonts/Raleway-boldItalic.fntdata"/><Relationship Id="rId12" Type="http://schemas.openxmlformats.org/officeDocument/2006/relationships/slide" Target="slides/slide7.xml"/><Relationship Id="rId56" Type="http://schemas.openxmlformats.org/officeDocument/2006/relationships/font" Target="fonts/Raleway-italic.fntdata"/><Relationship Id="rId15" Type="http://schemas.openxmlformats.org/officeDocument/2006/relationships/slide" Target="slides/slide10.xml"/><Relationship Id="rId59" Type="http://schemas.openxmlformats.org/officeDocument/2006/relationships/font" Target="fonts/Roboto-bold.fntdata"/><Relationship Id="rId14" Type="http://schemas.openxmlformats.org/officeDocument/2006/relationships/slide" Target="slides/slide9.xml"/><Relationship Id="rId58" Type="http://schemas.openxmlformats.org/officeDocument/2006/relationships/font" Target="fonts/Robot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f95336a2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f95336a2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f95336a28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f95336a28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f95336a28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2f95336a2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f95336a2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2f95336a2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f95336a2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f95336a2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f95336a2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f95336a2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f95336a2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f95336a2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f95336a2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f95336a2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f95336a2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f95336a2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f95336a2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f95336a2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f95336a28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f95336a28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f95336a28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2f95336a28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2f95336a28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2f95336a28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2f95336a2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2f95336a2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f95336a2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f95336a2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f95336a28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2f95336a28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f95336a28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2f95336a28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f95336a28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f95336a28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f95336a28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2f95336a28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2f95336a28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2f95336a28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2f95336a28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2f95336a28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2f95336a2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2f95336a2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f95336a28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2f95336a28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2f95336a28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2f95336a28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2f95336a28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2f95336a28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f95336a28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2f95336a28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2f95336a28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2f95336a28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2f95336a28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2f95336a28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2f95336a2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2f95336a2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f95336a28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2f95336a28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f95336a28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2f95336a28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2f95336a28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2f95336a28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2f95336a28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2f95336a28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2f95336a28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2f95336a28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f95336a28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2f95336a28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f95336a28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2f95336a28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2f95336a28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2f95336a28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2f95336a28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2f95336a28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2f95336a28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2f95336a28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2f95336a28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2f95336a28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2f95336a28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2f95336a28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2f95336a2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2f95336a2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2f95336a28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2f95336a28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2f95336a28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2f95336a28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2f95336a28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2f95336a28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2f95336a28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2f95336a28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f95336a2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2f95336a2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ChemaSarmiento/Big_Data_UP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SQL Fast track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Standard Query Language (SQL)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Lenguaje estándar para manipular datos estructurados en bases relacionales, con estándar ANSI 1986 e ISO en 1987, aunque cada RDBMS (Relational Data Base Management System) tiene sus "bemoles", todos entienden el estándar.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Por RDBMS entendemos a Oracle, PostgreSQL, MySQL(Maria DB), SQL Server, etc…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Las bases de datos están construidas por objetos llamados Tablas, que a su vez se construyen por registros ( o filas ) y campos ( o columnas 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Paréntesis, crear una instancia en GCP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Instalando una base de datos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Usando GCP desde una instancia virtual, y clonar </a:t>
            </a:r>
            <a:r>
              <a:rPr lang="es" u="sng">
                <a:solidFill>
                  <a:schemeClr val="hlink"/>
                </a:solidFill>
                <a:hlinkClick r:id="rId3"/>
              </a:rPr>
              <a:t>ESTE</a:t>
            </a:r>
            <a:r>
              <a:rPr lang="es"/>
              <a:t> repositorio y usar los siguientes scripts.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/maria_db_shells/…</a:t>
            </a:r>
            <a:endParaRPr/>
          </a:p>
          <a:p>
            <a:pPr indent="-304959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1_instalar_mariadb_easy.sh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2_crear_usuario.sh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3_modificar_configuracion.sh</a:t>
            </a:r>
            <a:endParaRPr/>
          </a:p>
          <a:p>
            <a:pPr indent="-304959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4_crear_regla_vpc.sh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NO OLVIDAR, el usuario será </a:t>
            </a:r>
            <a:r>
              <a:rPr b="1" lang="es">
                <a:solidFill>
                  <a:srgbClr val="FF0000"/>
                </a:solidFill>
              </a:rPr>
              <a:t>big_data_user </a:t>
            </a:r>
            <a:r>
              <a:rPr lang="es"/>
              <a:t>y el password </a:t>
            </a:r>
            <a:r>
              <a:rPr b="1" lang="es">
                <a:solidFill>
                  <a:srgbClr val="FF0000"/>
                </a:solidFill>
              </a:rPr>
              <a:t>Example123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Si hay dudas, revisar el archivo INSTRUCCIONES.md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7638" y="447663"/>
            <a:ext cx="5381625" cy="469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7"/>
          <p:cNvSpPr/>
          <p:nvPr/>
        </p:nvSpPr>
        <p:spPr>
          <a:xfrm>
            <a:off x="1666650" y="3540650"/>
            <a:ext cx="2751300" cy="598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354025" y="1028700"/>
            <a:ext cx="2065500" cy="5352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" name="Google Shape;114;p17"/>
          <p:cNvCxnSpPr>
            <a:stCxn id="112" idx="0"/>
            <a:endCxn id="113" idx="4"/>
          </p:cNvCxnSpPr>
          <p:nvPr/>
        </p:nvCxnSpPr>
        <p:spPr>
          <a:xfrm flipH="1" rot="10800000">
            <a:off x="3042300" y="1563950"/>
            <a:ext cx="2344500" cy="1976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00" y="0"/>
            <a:ext cx="90741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76506"/>
            <a:ext cx="9144000" cy="3790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5518"/>
            <a:ext cx="9144000" cy="3712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0588"/>
            <a:ext cx="9143999" cy="3942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1143326"/>
            <a:ext cx="9143999" cy="264949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/>
          <p:nvPr/>
        </p:nvSpPr>
        <p:spPr>
          <a:xfrm>
            <a:off x="7511900" y="2910675"/>
            <a:ext cx="1459200" cy="1315800"/>
          </a:xfrm>
          <a:prstGeom prst="ellipse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51" name="Google Shape;151;p22"/>
          <p:cNvCxnSpPr>
            <a:endCxn id="150" idx="1"/>
          </p:cNvCxnSpPr>
          <p:nvPr/>
        </p:nvCxnSpPr>
        <p:spPr>
          <a:xfrm>
            <a:off x="6363595" y="1961569"/>
            <a:ext cx="1362000" cy="114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2"/>
          <p:cNvCxnSpPr>
            <a:endCxn id="150" idx="2"/>
          </p:cNvCxnSpPr>
          <p:nvPr/>
        </p:nvCxnSpPr>
        <p:spPr>
          <a:xfrm flipH="1" rot="10800000">
            <a:off x="5781500" y="3568575"/>
            <a:ext cx="1730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2"/>
          <p:cNvCxnSpPr>
            <a:endCxn id="150" idx="0"/>
          </p:cNvCxnSpPr>
          <p:nvPr/>
        </p:nvCxnSpPr>
        <p:spPr>
          <a:xfrm flipH="1">
            <a:off x="8241500" y="1411575"/>
            <a:ext cx="51900" cy="149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Instalación de MariaDB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" y="1156049"/>
            <a:ext cx="9144001" cy="168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1589"/>
            <a:ext cx="9144000" cy="4460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4381"/>
            <a:ext cx="9144000" cy="4394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729450" y="3070150"/>
            <a:ext cx="7688700" cy="12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Ya tienes una base de datos andando.</a:t>
            </a:r>
            <a:endParaRPr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731"/>
            <a:ext cx="9144001" cy="1787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Instalar una BD de ejemplo</a:t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Lato"/>
              <a:buChar char="●"/>
            </a:pPr>
            <a:r>
              <a:rPr lang="es" sz="2100"/>
              <a:t>git clone https://github.com/datacharmer/test_db.git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Lato"/>
              <a:buChar char="●"/>
            </a:pPr>
            <a:r>
              <a:rPr lang="es" sz="2100"/>
              <a:t>cd test_db/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Lato"/>
              <a:buChar char="●"/>
            </a:pPr>
            <a:r>
              <a:rPr lang="es" sz="2100"/>
              <a:t>mysql -u [</a:t>
            </a:r>
            <a:r>
              <a:rPr i="1" lang="es" sz="2100"/>
              <a:t>usuario</a:t>
            </a:r>
            <a:r>
              <a:rPr lang="es" sz="2100"/>
              <a:t>] -p [</a:t>
            </a:r>
            <a:r>
              <a:rPr i="1" lang="es" sz="2100"/>
              <a:t>password</a:t>
            </a:r>
            <a:r>
              <a:rPr lang="es" sz="2100"/>
              <a:t>] &lt; employees.sql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0952"/>
            <a:ext cx="9144001" cy="3806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-12"/>
            <a:ext cx="4958616" cy="509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Regresando a SQL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Comandos</a:t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Los comandos SQL se dividen en varios tipos diferentes: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768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b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Definición de datos </a:t>
            </a: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(Data Definition Language - DDL) se utilizan para definir tablas de datos. (CREATE, ALTER, DROP)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b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Manipulación de datos</a:t>
            </a: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 (Data Manipulation Language - DML) se utilizan para manipular datos en tablas existentes agregando, cambiando o eliminando datos, Los comandos DML operan en las tablas definidas con los comandos DDL. (SELECT, INSERT, UPDATE, DELETE)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El lenguaje de consulta de datos consta de un solo comando, </a:t>
            </a:r>
            <a:r>
              <a:rPr b="1"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SELECT</a:t>
            </a: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, que se utiliza para obtener datos específicos de las tablas. 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Lenguaje de control de datos (DCL) se utilizan para otorgar o revocar privilegios de acceso a los usuarios (GRANT, REVOKE)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ct val="100000"/>
              <a:buFont typeface="Roboto"/>
              <a:buChar char="●"/>
            </a:pPr>
            <a:r>
              <a:rPr lang="es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Control de transacciones se utilizan para cambiar el estado de algunos datos, por ejemplo, para COMMIT cambios de transacciones o para ROLLBACK cambios de transacciones.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823525" y="529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Tipos de datos</a:t>
            </a:r>
            <a:endParaRPr/>
          </a:p>
        </p:txBody>
      </p:sp>
      <p:pic>
        <p:nvPicPr>
          <p:cNvPr id="223" name="Google Shape;22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2" y="1079325"/>
            <a:ext cx="8930273" cy="3553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>
            <a:off x="727650" y="12973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Usando las tablas de la "toy database", seleccionando así en MariaDB</a:t>
            </a:r>
            <a:endParaRPr/>
          </a:p>
        </p:txBody>
      </p:sp>
      <p:pic>
        <p:nvPicPr>
          <p:cNvPr id="230" name="Google Shape;2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276" y="1638725"/>
            <a:ext cx="5100949" cy="340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727650" y="12973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SELECT [campos] FROM [tabla];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* FROM departments;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1075" y="1714388"/>
            <a:ext cx="5295900" cy="30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43" name="Google Shape;243;p36"/>
          <p:cNvSpPr txBox="1"/>
          <p:nvPr>
            <p:ph idx="1" type="body"/>
          </p:nvPr>
        </p:nvSpPr>
        <p:spPr>
          <a:xfrm>
            <a:off x="4496100" y="497275"/>
            <a:ext cx="4647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Cláusula 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Sirve para condicionar la búsqueda a partir de una sentencia lógica, para "filtrar" los datos. Encontraremos a los empleados del departamento 'd001'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SELECT * FROM dept_emp WHERE dept_no = 'd001' LIMIT 10;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(la palabra LIMIT solo obtiene los primeros 'n' resultados de la tabla, en este caso los primeros 10 registros)</a:t>
            </a:r>
            <a:endParaRPr/>
          </a:p>
        </p:txBody>
      </p:sp>
      <p:pic>
        <p:nvPicPr>
          <p:cNvPr id="244" name="Google Shape;24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50" y="2641850"/>
            <a:ext cx="6101424" cy="25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50" name="Google Shape;250;p37"/>
          <p:cNvSpPr txBox="1"/>
          <p:nvPr>
            <p:ph idx="1" type="body"/>
          </p:nvPr>
        </p:nvSpPr>
        <p:spPr>
          <a:xfrm>
            <a:off x="4496100" y="497275"/>
            <a:ext cx="4647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 GROUP BY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Sirve para agrupar renglones con funciones agrupadas, por ejemplo 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Por ejemplo, encontremos cuantos empleados hay por departamento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SELECT dept_no, COUNT(*) FROM dept_emp GROUP BY dept_no;</a:t>
            </a:r>
            <a:endParaRPr/>
          </a:p>
        </p:txBody>
      </p:sp>
      <p:pic>
        <p:nvPicPr>
          <p:cNvPr id="251" name="Google Shape;25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75" y="2687500"/>
            <a:ext cx="6828675" cy="23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3843675" y="497275"/>
            <a:ext cx="53004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Cláusula HAVING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usa junto a la cláusula GROUP BY para filtrar en agrupaciones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SELECT * FROM [table] WHERE [condition] GROUP BY [columna] HAVING [condicion]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Ejemplo, filtraremos sólo los departamentos con menos de 20k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SELECT dept_no, COUNT(*) FROM dept_emp GROUP BY dept_no HAVING COUNT(*) &lt; 20000;</a:t>
            </a:r>
            <a:endParaRPr/>
          </a:p>
        </p:txBody>
      </p:sp>
      <p:pic>
        <p:nvPicPr>
          <p:cNvPr id="258" name="Google Shape;2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7550" y="2703425"/>
            <a:ext cx="4326727" cy="20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64" name="Google Shape;264;p39"/>
          <p:cNvSpPr txBox="1"/>
          <p:nvPr>
            <p:ph idx="1" type="body"/>
          </p:nvPr>
        </p:nvSpPr>
        <p:spPr>
          <a:xfrm>
            <a:off x="4385925" y="497275"/>
            <a:ext cx="4758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Función COUNT(*)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Nos dirá cuántos registros tiene el 'query' que lanzamos.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COUNT(*) FROM dept_emp WHERE dept_no = 'd001';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Nota que aquí ya no usamos LIMIT</a:t>
            </a:r>
            <a:endParaRPr/>
          </a:p>
        </p:txBody>
      </p:sp>
      <p:pic>
        <p:nvPicPr>
          <p:cNvPr id="265" name="Google Shape;2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075" y="2224975"/>
            <a:ext cx="7839075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3875575" y="497275"/>
            <a:ext cx="5268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 ORDER BY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Ordenará a partir de una columna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* FROM dept_emp WHERE dept_no = 'd001' ORDER BY from_date LIMIT 10;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Por defecto es ascendente, pero podemos invertirlo con DESC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* FROM dept_emp WHERE dept_no = 'd001' ORDER BY from_date DESC LIMIT 10;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2" name="Google Shape;27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10775"/>
            <a:ext cx="6896875" cy="20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1818175" y="1111300"/>
            <a:ext cx="6674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 AND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Funciona para concatenar relaciones lógicas dentro de la cláusula WHERE, se pueden usar tantos operadores como filtros hagan falta.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* FROM dept_emp WHERE dept_no = 'd001' and from_date &lt; '1985-02-03'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10775"/>
            <a:ext cx="8839202" cy="191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85" name="Google Shape;285;p42"/>
          <p:cNvSpPr txBox="1"/>
          <p:nvPr>
            <p:ph idx="1" type="body"/>
          </p:nvPr>
        </p:nvSpPr>
        <p:spPr>
          <a:xfrm>
            <a:off x="215300" y="1670425"/>
            <a:ext cx="4266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 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Funciona para concatenar relaciones lógicas dentro de la cláusula WHERE, se pueden usar tantos operadores como filtros hagan falta.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* FROM dept_emp WHERE dept_no = 'd001' or dept_no = 'd002' or from_date &lt; '1985-02-03' limit 10;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1602" y="1465700"/>
            <a:ext cx="4417851" cy="34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3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92" name="Google Shape;292;p43"/>
          <p:cNvSpPr txBox="1"/>
          <p:nvPr>
            <p:ph idx="1" type="body"/>
          </p:nvPr>
        </p:nvSpPr>
        <p:spPr>
          <a:xfrm>
            <a:off x="179850" y="1231825"/>
            <a:ext cx="8787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 INSERT INTO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utiliza para insertar un registro dentro de una tabla. Insertemos un departamento nuevo en la tabla dept.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INSERT INTO [Tabla] (columna1, columna2, …) VALUES (valor1, valor 2, 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INSERT INTO departments VALUES('d010', 'Data Science');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4162" y="2611625"/>
            <a:ext cx="5459274" cy="249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299" name="Google Shape;299;p44"/>
          <p:cNvSpPr txBox="1"/>
          <p:nvPr>
            <p:ph idx="1" type="body"/>
          </p:nvPr>
        </p:nvSpPr>
        <p:spPr>
          <a:xfrm>
            <a:off x="179850" y="1231825"/>
            <a:ext cx="5163000" cy="3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 UPDATE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utiliza para actualizar el valor en uno o varios registros dentro de una tabla. Actualicemos un departamento en la tabla dept.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INSERT INTO [Tabla] (columna1, columna2, …) VALUES (valor1, valor2, 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UPDATE departments SET dept_name = 'Data Science &amp; AI' WHERE dept_no = 'd010'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Cuidado advertencia signo vector de la imagen | Vectores de ..." id="300" name="Google Shape;30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375" y="497275"/>
            <a:ext cx="1307450" cy="115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4500" y="1729971"/>
            <a:ext cx="3456825" cy="31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5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307" name="Google Shape;307;p45"/>
          <p:cNvSpPr txBox="1"/>
          <p:nvPr>
            <p:ph idx="1" type="body"/>
          </p:nvPr>
        </p:nvSpPr>
        <p:spPr>
          <a:xfrm>
            <a:off x="179850" y="1231825"/>
            <a:ext cx="8787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Sentencia UPDATE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Se utiliza para actualizar el valor en uno o varios registros dentro de una tabla. Actualicemos un departamento en la tabla dept.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INSERT INTO [Tabla] (columna1, columna2, …) VALUES (valor1, valor2, …)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</a:rPr>
              <a:t>UPDATE departments SET dept_name = 'Data Science &amp; AI' WHERE dept_no = 'd010'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4175" y="2611625"/>
            <a:ext cx="5459274" cy="2499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uidado advertencia signo vector de la imagen | Vectores de ..." id="309" name="Google Shape;30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6375" y="497275"/>
            <a:ext cx="1307450" cy="115055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5"/>
          <p:cNvSpPr txBox="1"/>
          <p:nvPr>
            <p:ph idx="1" type="body"/>
          </p:nvPr>
        </p:nvSpPr>
        <p:spPr>
          <a:xfrm>
            <a:off x="3896825" y="497275"/>
            <a:ext cx="3654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sentencia UPDATE sin un WHERE puede resultar en un cambio en TODA LA TABLA, esto puede afectar registros que no se necesitan modificar. Cuando veas el símbolo, no te tropieces!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316" name="Google Shape;316;p46"/>
          <p:cNvSpPr txBox="1"/>
          <p:nvPr>
            <p:ph idx="1" type="body"/>
          </p:nvPr>
        </p:nvSpPr>
        <p:spPr>
          <a:xfrm>
            <a:off x="147975" y="1168050"/>
            <a:ext cx="5163000" cy="37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 DELETE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utiliza para borrar registros dentro de la tabla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DELETE FROM [tabla] WHERE [condición]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DELETE FROM departments WHERE dept_no = 'd010';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Cuidado advertencia signo vector de la imagen | Vectores de ..." id="317" name="Google Shape;3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6375" y="497275"/>
            <a:ext cx="1307450" cy="1150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8850" y="2571750"/>
            <a:ext cx="5008524" cy="25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324" name="Google Shape;324;p47"/>
          <p:cNvSpPr txBox="1"/>
          <p:nvPr>
            <p:ph idx="1" type="body"/>
          </p:nvPr>
        </p:nvSpPr>
        <p:spPr>
          <a:xfrm>
            <a:off x="179850" y="1231825"/>
            <a:ext cx="8787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Funciones agregadas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utilizan para describir datos dentro de las tablas, ya utilizamos una (COUNT()), aquí más ejemplos aplicados a la tabla salaries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49" y="2196950"/>
            <a:ext cx="8787900" cy="2853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Sentencias y Sintaxis</a:t>
            </a:r>
            <a:endParaRPr/>
          </a:p>
        </p:txBody>
      </p:sp>
      <p:sp>
        <p:nvSpPr>
          <p:cNvPr id="331" name="Google Shape;331;p48"/>
          <p:cNvSpPr txBox="1"/>
          <p:nvPr>
            <p:ph idx="1" type="body"/>
          </p:nvPr>
        </p:nvSpPr>
        <p:spPr>
          <a:xfrm>
            <a:off x="179850" y="1231825"/>
            <a:ext cx="8787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Operador LIKE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Dentro de la cláusula WHERE, se puede utilizar para encontrar un patrón específico, usando: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% representa 0, 1 o múltiples caracteres.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_ representa 1 solo caracter.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SELECT </a:t>
            </a:r>
            <a:r>
              <a:rPr lang="es"/>
              <a:t>emp_no, birth_date, first_name, last_name FROM employees WHERE first_name LIKE 'e%' LIMIT 10;</a:t>
            </a:r>
            <a:endParaRPr/>
          </a:p>
        </p:txBody>
      </p:sp>
      <p:pic>
        <p:nvPicPr>
          <p:cNvPr id="332" name="Google Shape;33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8180" y="2882400"/>
            <a:ext cx="3046844" cy="22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9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</a:t>
            </a:r>
            <a:endParaRPr/>
          </a:p>
        </p:txBody>
      </p:sp>
      <p:sp>
        <p:nvSpPr>
          <p:cNvPr id="338" name="Google Shape;338;p49"/>
          <p:cNvSpPr txBox="1"/>
          <p:nvPr>
            <p:ph idx="1" type="body"/>
          </p:nvPr>
        </p:nvSpPr>
        <p:spPr>
          <a:xfrm>
            <a:off x="179850" y="1231825"/>
            <a:ext cx="4005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La cláusula JOIN se utiliza para combinar registros entre dos o más tablas, basadas en relaciones entre ellas, observa el diagrama "Entidad-Relación" que tenemos para la base de Employees:</a:t>
            </a:r>
            <a:endParaRPr/>
          </a:p>
        </p:txBody>
      </p:sp>
      <p:pic>
        <p:nvPicPr>
          <p:cNvPr id="339" name="Google Shape;33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375" y="-12"/>
            <a:ext cx="4958616" cy="509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0"/>
          <p:cNvSpPr txBox="1"/>
          <p:nvPr>
            <p:ph type="title"/>
          </p:nvPr>
        </p:nvSpPr>
        <p:spPr>
          <a:xfrm>
            <a:off x="729450" y="497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JOIN</a:t>
            </a:r>
            <a:endParaRPr/>
          </a:p>
        </p:txBody>
      </p:sp>
      <p:sp>
        <p:nvSpPr>
          <p:cNvPr id="345" name="Google Shape;345;p50"/>
          <p:cNvSpPr txBox="1"/>
          <p:nvPr>
            <p:ph idx="1" type="body"/>
          </p:nvPr>
        </p:nvSpPr>
        <p:spPr>
          <a:xfrm>
            <a:off x="179850" y="1231825"/>
            <a:ext cx="40056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cláusula JOIN se utiliza para combinar registros entre dos o más tablas, basadas en relaciones entre ellas, observa el diagrama "Entidad-Relación" que tenemos para la base de Employees: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Nota que podemos relacionar la tabla [employees] con la tabla [salaries] por medio del campo 'emp_no'.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¿Cómo?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* FROM employees as 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INNER JOIN salaries as 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ON e.emp_no = s.emp_no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LIMIT 10;</a:t>
            </a:r>
            <a:endParaRPr/>
          </a:p>
        </p:txBody>
      </p:sp>
      <p:pic>
        <p:nvPicPr>
          <p:cNvPr id="346" name="Google Shape;34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5375" y="-12"/>
            <a:ext cx="4958616" cy="509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91731"/>
            <a:ext cx="9144001" cy="2760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Distintos tipos de JOIN</a:t>
            </a:r>
            <a:endParaRPr/>
          </a:p>
        </p:txBody>
      </p:sp>
      <p:pic>
        <p:nvPicPr>
          <p:cNvPr id="359" name="Google Shape;35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375" y="1814875"/>
            <a:ext cx="6421190" cy="29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52"/>
          <p:cNvSpPr txBox="1"/>
          <p:nvPr/>
        </p:nvSpPr>
        <p:spPr>
          <a:xfrm>
            <a:off x="4550700" y="4881900"/>
            <a:ext cx="4593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/>
              <a:t>https://www.linkedin.com/pulse/how-do-sql-joins-work-key-combining-your-data-rajeev-barnwal-vtgwc</a:t>
            </a:r>
            <a:endParaRPr sz="700"/>
          </a:p>
        </p:txBody>
      </p:sp>
      <p:sp>
        <p:nvSpPr>
          <p:cNvPr id="361" name="Google Shape;361;p52"/>
          <p:cNvSpPr txBox="1"/>
          <p:nvPr/>
        </p:nvSpPr>
        <p:spPr>
          <a:xfrm>
            <a:off x="2623575" y="717700"/>
            <a:ext cx="459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Subqueries</a:t>
            </a:r>
            <a:endParaRPr/>
          </a:p>
        </p:txBody>
      </p:sp>
      <p:sp>
        <p:nvSpPr>
          <p:cNvPr id="367" name="Google Shape;367;p53"/>
          <p:cNvSpPr txBox="1"/>
          <p:nvPr>
            <p:ph idx="1" type="body"/>
          </p:nvPr>
        </p:nvSpPr>
        <p:spPr>
          <a:xfrm>
            <a:off x="729450" y="1759900"/>
            <a:ext cx="7688700" cy="31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Se puede utilizar un query dentro de un query, por ejemplo, una manera de obtener aquellos empleados que tengan un salario mayor a 90K y que sean del departamento de marketing puede ser: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e.*, m.salary FROM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employees AS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RIGHT JOIN (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	SELECT * FROM salaries WHERE salary &gt; 90000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) as m ON m.emp_no = e.emp_no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LIMIT 10;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13" y="600075"/>
            <a:ext cx="8334375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Combinando Todo</a:t>
            </a:r>
            <a:endParaRPr/>
          </a:p>
        </p:txBody>
      </p:sp>
      <p:sp>
        <p:nvSpPr>
          <p:cNvPr id="380" name="Google Shape;380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Unos queries de ejemplo: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Encontrar el salario promedio de los managers del departamento de marketing.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Combinando Todo</a:t>
            </a:r>
            <a:endParaRPr/>
          </a:p>
        </p:txBody>
      </p:sp>
      <p:sp>
        <p:nvSpPr>
          <p:cNvPr id="386" name="Google Shape;386;p56"/>
          <p:cNvSpPr txBox="1"/>
          <p:nvPr>
            <p:ph idx="1" type="body"/>
          </p:nvPr>
        </p:nvSpPr>
        <p:spPr>
          <a:xfrm>
            <a:off x="729450" y="2078875"/>
            <a:ext cx="7688700" cy="28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Unos queries de ejemplo: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Encontrar el salario y nombre de los managers actuales del departamento de marketi</a:t>
            </a:r>
            <a:r>
              <a:rPr lang="es"/>
              <a:t>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d.dept_no, e.first_name, e.last_name, max(s.salary) as salario FROM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employees AS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LEFT JOIN dept_manager AS dm ON dm.emp_no = e.emp_no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RIGHT JOIN salaries AS s ON s.emp_no = e.emp_no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LEFT JOIN  departments AS d on dm.dept_no = d.dept_no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WHERE dm.to_date = '9999-01-01'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GROUP BY d.dept_no, e.first_name, e.last_name;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7"/>
          <p:cNvSpPr txBox="1"/>
          <p:nvPr>
            <p:ph idx="1" type="body"/>
          </p:nvPr>
        </p:nvSpPr>
        <p:spPr>
          <a:xfrm>
            <a:off x="7743150" y="2078875"/>
            <a:ext cx="1323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¿Por qué se repiten?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Te toca solucionarlo.</a:t>
            </a:r>
            <a:endParaRPr/>
          </a:p>
        </p:txBody>
      </p:sp>
      <p:pic>
        <p:nvPicPr>
          <p:cNvPr id="393" name="Google Shape;3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900"/>
            <a:ext cx="75763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Combinando Todo</a:t>
            </a:r>
            <a:endParaRPr/>
          </a:p>
        </p:txBody>
      </p:sp>
      <p:sp>
        <p:nvSpPr>
          <p:cNvPr id="399" name="Google Shape;399;p58"/>
          <p:cNvSpPr txBox="1"/>
          <p:nvPr>
            <p:ph idx="1" type="body"/>
          </p:nvPr>
        </p:nvSpPr>
        <p:spPr>
          <a:xfrm>
            <a:off x="729450" y="2078875"/>
            <a:ext cx="7688700" cy="28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Unos queries de ejemplo: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Encontrar el nombre y nombre de departamento de los 10 empleados con menor salario ACTUAL que tengan el título de 'Senior Engineer', (Usando Subqueries)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SELECT e.emp_no, e.first_name, e.last_name, dpt.dept_name, s.salary, t.title FROM employees AS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JOIN (SELECT emp_no, title FROM titles WHERE title = 'Senior Engineer') as t on t.emp_no = e.emp_no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J</a:t>
            </a:r>
            <a:r>
              <a:rPr lang="es"/>
              <a:t>OIN (SELECT emp_no, d.dept_name from dept_emp AS de JOIN departments AS d on d.dept_no = de.dept_no AND de.to_date = '9999-01-01') as dpt on dpt.emp_no = e.emp_no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JOIN salaries AS s ON s.emp_no = e.emp_no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WHERE s.to_date = '9999-01-01'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order by s.salary asc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limit 10;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5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7795"/>
            <a:ext cx="9143999" cy="3387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6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